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59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718" y="58"/>
      </p:cViewPr>
      <p:guideLst>
        <p:guide orient="horz" pos="2183"/>
        <p:guide pos="3840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A6058020-7BAC-2049-E6FC-61CE768466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828FB6F-1AE0-2D78-1040-17464D1602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B628B-B852-48E0-A99B-C190D37D49B6}" type="datetimeFigureOut">
              <a:rPr lang="uk-UA" smtClean="0"/>
              <a:t>03.06.2025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1437912-9733-AA4F-2F58-E018B4C690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3965D88-7366-E7B0-FA79-F881B0E88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0822A-03FF-445E-93FF-E031ED68F0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79297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4CFC4-0A43-482B-850C-38C2BF893045}" type="datetimeFigureOut">
              <a:rPr lang="uk-UA" smtClean="0"/>
              <a:t>03.06.2025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D207D-E706-4477-B22F-A108EC4729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18072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161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0A0A-4A96-74AB-1111-BB18EF1E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B010A51C-8816-9F9A-CAD2-5409544B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B272899E-B80A-269B-981E-D567324B4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2479168-6B08-A9AB-BA37-4299F85351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E2E7D36-03B6-E434-AFC0-F274434B7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2533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A42E-0033-3ABE-5BEB-F775A419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58F8A759-A974-2D7F-E879-697D27DEC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6BE9E4C3-9058-4C21-6C5F-07F71FD36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DF96F42-BFEB-FA1E-16E3-B100A9BCA2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25CDCF9-70A8-92EC-BF43-D87286682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2627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8A3F-FF9C-4A2F-B5BA-BE66AD41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1B9E9CD-22D2-8709-B0BE-74A050951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8928BBD9-E3A2-4E9B-A39D-5EC7D0634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63C05DF-8812-B64A-0EE7-D4FA82C97B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D5B9D29-B247-F62D-B2F2-B32A3883E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2919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87421-7DC2-51D8-BE4D-CB54410D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68D9B227-3D83-E777-F171-BCED92026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9CAC34C3-C333-CD7C-0712-42B9D81CD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76849AF-E851-049D-01F5-D336B1483D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E1E31F4-7CBE-687D-9E43-45D7D6AD9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3105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64E3-6484-5883-4BED-82AFB9FE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FC8A5AF2-C169-E4F2-49BF-C880022F6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15A9A62D-3C32-5ECF-D701-8C679C19B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5DF13FC-365C-EBAF-BF59-4485B6688A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C70D910-5D84-DB4B-1601-B5FA5CC19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7322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5661-37BF-C28F-D6EF-B15FDF0D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9D7EC505-96AB-B402-06D0-5E7F8BDCE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E62F427B-573C-10EE-B3EF-D74CDB6E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81C6E2F-2A7D-1389-DD1B-7BD870C9C5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A392992-054F-FA18-F9D9-7D63A74D4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495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A726-A39A-3E71-55EF-4B41D2A3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7F55B0E0-64F9-718F-AE95-9A0AA97F3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51B17257-64E4-0156-8107-85D4C112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027983E-DA7F-6ABF-F45C-AD966BD3D2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6004438-CDE1-50BC-65F0-625CF231F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5486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F26F-C7C3-3290-F23E-37D60969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B1B931F5-D525-3B04-1BA8-82EED1CFA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6B861D62-42BB-9443-9575-D53A0D404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ABCEC8F-499C-04F2-50D2-F5CC332DE6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8C89442-D0BC-5A35-8B5C-132C94FD9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7436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5AE1-7806-1210-E56D-8D51F516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02EF881-1980-D5AD-B32C-D411091FB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5437A482-AA7C-85C9-6490-D3C8B30EB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927264B-4110-C6AB-0928-5E57A34280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FB52F2B-FB6F-6C8A-953B-91742E9A1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2877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A573-DE64-EAC2-89D2-6261BBD4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AF5D7044-1E7E-A345-FDD1-3552E571E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C8FB5282-0CB9-F288-F676-AD6FA15D8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9F06BEF-1228-5364-C50E-F0CCD8938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6250789-60DA-1FD9-22A3-E137F015B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27093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F295-C475-03F2-7D9F-48D10E53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F54DE47C-FB19-5CB5-2126-AC1764ECD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A0DA8FD3-940D-A09B-D28F-30852F21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9B77A05-B636-53BF-C68C-505C504303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441EA32-383D-9C84-74B1-EBEAAD6D4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2710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7DF8-E4DE-5B21-C3DC-7BF7700A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D07E5137-DF2F-9B23-7805-B521DEC99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5C08A001-4E2B-EE1A-B080-77C82E047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1B7C651-DF74-A096-FDAF-032949AE73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401DB18-0BC8-7307-EAD6-EB75369F6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3196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6922-5ADD-35FF-C97A-61839094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03D490A3-7BF9-E14A-7E82-6236349AC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F9192983-AF91-72B8-85FC-4C6C43C25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EB01CC2-3E40-0E6F-4355-E50DC04EDD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CF43ABC-0493-5101-F42A-C7C0CEB20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3765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AE70-42A8-65EC-6BF1-22FDA7E1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2705A62D-2D93-BF9F-41EE-7CB77E34A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19569196-9E7E-62B7-A65D-C76E6563A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6B042B1-992C-3E05-B490-3212A836F4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7AE99B9-B1B9-5F2D-9694-D8D907E4C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299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9B43-C9AB-345C-2580-1A5B185B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60135F5-AAE6-23AA-C5D8-8A9876D82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EDBF1963-8F65-DC8F-FBF4-0FA8C4D46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BF1A4DB-2A54-FCAD-09EA-E593586D4B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969D6E6-7598-D4FF-070A-D0A1D6A1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598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AEEE-8777-8ED9-2F8A-71112105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9C40148C-609F-9E84-0580-076D0318F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0BA542D9-9652-10A2-4D85-A6A189761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816D377-3BF8-8155-D255-D2A53D2241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D94F73F-B64E-9DED-BADD-CEADDC5D7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6769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18A18-DF22-EF2A-484F-9A966DB9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DFA2D8CF-36E7-10EE-DFBC-F81EA3C98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3AB5B53A-5F9C-447E-78B6-FD388A1A1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29EC45E-05FB-489C-27E5-E61F1DEA57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7AEAC8F-0045-3156-8116-A9D10A640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5264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E19A-0EAC-BD52-2B4E-A983735E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B167BE77-6574-5C32-90B3-41189A2AE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955EF1A8-6BFF-3181-BCD4-F50DC17BC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8592479-E215-1140-F6F0-2B0067C291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18C9EB8-DEEE-1C20-BDED-6AB2C53A9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0772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34-A200-D5DD-FDB9-AC4EE750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72474E69-11DD-9D69-B632-9D3EEF2DF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11B12526-2BBF-D7A0-035B-B8A3002A8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76B2D9F-89E4-1660-ECEF-A03D1CC522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3BE4B00-A404-4A34-216B-C737CE046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1500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C43F-B783-14E2-E2A4-5B4602F1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5CA88E5-B968-FFFC-052E-6DF382CDD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E969CFE5-9048-363F-A831-480D830D1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9440EBC-CFF9-0703-0F27-53FE9CAD66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815FAAE-52A7-B5A7-A0CB-FC952F566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7D207D-E706-4477-B22F-A108EC47290B}" type="slidenum">
              <a:rPr lang="uk-UA" smtClean="0"/>
              <a:t>31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473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22207-9EF5-EABC-3C46-6136DDFCF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3BE1550-7CCD-F87B-A2E2-32245C98C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AAAA7EB-E997-E8C0-0A5B-37B7FDB5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4C91-912D-4324-9730-FBBD92B9EFDB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A1FE818-DF5C-4E19-04E7-8DBA763D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0387A53-37B1-072C-5D93-D4D3B377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112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8E5AC-4611-E04B-0F0D-AD106E2E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AFDEF8B-56E7-F858-0E8C-AF25276D0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BB8C156-3C37-171E-C717-8C736154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E9342-E896-4EFE-BD51-C57E2DFA45FA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4A27125-D1B0-50DC-F830-2CB056D8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E6C24F8-A9E7-5D78-575D-3612924F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734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74673-1A94-39D3-3798-4613F463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FF1A3D8-E979-02B0-548B-B204B576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193EFE-6140-3C9F-4B5A-C7DAE2A0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D91D-5A62-4E76-B584-ED92D9EA6211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143AEFB-F64A-43F4-97CA-A36FACF5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2CDB2EE-497E-6E81-A5B1-AC582733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2369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93C6B-279E-54AA-9A59-1665F03C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49FFD7-6AEC-DFEA-D036-23C010FC4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1ABD80-4789-D6FA-9C94-4D0BC0D39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A09704C-9D32-D1B2-3468-70EFF5C3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B2ECD-9C3D-48E0-AF10-355730E3FCC1}" type="datetime1">
              <a:rPr lang="uk-UA" smtClean="0"/>
              <a:t>03.06.2025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5E1A495-3486-90B1-D552-9CDC710A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DDA3DA7-44CD-B611-6447-0F67FC02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012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46EBA-8435-AB44-E4D3-7791D66D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07823A0-0688-B245-95A6-B67163FE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BA8374F-5954-9FE6-FAED-EEEA5CF24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7CB2DA6-E34A-C3B3-3609-A7C1CBF8F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CB9BF50-66FD-94FC-2FAC-E8D543DB7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3F0EE82-FF08-DA05-155C-AA1300EC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61C9-DF2B-4FC3-BFD5-4C9079AFCA58}" type="datetime1">
              <a:rPr lang="uk-UA" smtClean="0"/>
              <a:t>03.06.2025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1C59751-7151-79CD-2829-945D7112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0A4F8E4-3EEA-101A-95C3-DEE570DF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184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C12F0-FDD5-A2E0-5E22-86360B91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975F882-3504-DE5C-573F-45781315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606A-5E65-474F-9511-308223004D93}" type="datetime1">
              <a:rPr lang="uk-UA" smtClean="0"/>
              <a:t>03.06.2025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663EED6-C517-DF17-14A1-55A2F006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AA1A00B-9A8D-32C6-7CF2-DBE308A7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763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93F5209-41E9-061E-37F1-1D4D32AA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162-009B-4B27-9E3C-1748DF4C8246}" type="datetime1">
              <a:rPr lang="uk-UA" smtClean="0"/>
              <a:t>03.06.2025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7AAAD2C-3970-1728-F621-C96FAC41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E73D127-CE81-F6CA-FCEB-1E27885E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195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8144C-482E-0C96-5164-5A9F5812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20B940-14A3-E0E3-8D9D-AE9C652E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938E724-1956-28FC-2D71-FB8E5E7EB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A90DC99-A9BF-1B91-9D19-0D16981C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AAC3-13B1-4C70-8A20-C70DC89F51F5}" type="datetime1">
              <a:rPr lang="uk-UA" smtClean="0"/>
              <a:t>03.06.2025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AD752A7-D67A-40DE-D365-D90CAFED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8247839-3B7C-BF98-9DDA-A951DC76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618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23F54-5BD1-9926-600F-9B09A0C5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C273250-80CE-C2A9-10DA-9197CBC5B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3E52AAC-28D8-3EA6-99F1-09C5D967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641828F-F9ED-3760-3424-0833146B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DAEA-28A4-4229-B04D-58E4700C7147}" type="datetime1">
              <a:rPr lang="uk-UA" smtClean="0"/>
              <a:t>03.06.2025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65B8D04-45B3-4D43-F736-C4CDD795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AABFD68-7931-75E2-BBFA-FB1C3896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07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30E93-362B-989F-5381-D2CEAA2B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D71B6FA-AE4B-42F1-395E-9A718B80B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BEC97E8-DFA2-2877-4AEE-C1D04FC7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F277-26A1-42BA-890A-ED231B635D96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53A12BB-F909-FF4D-93F1-2F976FBB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45CCE6E-6EFF-650C-5259-4821F574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906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DDFE612-C44D-A22D-105B-AFB8C112C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FE2115E-DD61-CE89-1A21-15C228E90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17D77F-40C7-95D5-0DA4-40C8FFF7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3F16-F42B-4F37-8215-E43732B1BB40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84BEB7E-77D1-4586-F569-470F4D58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7016272-313F-3171-24EA-07C4B8C0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423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0682ADF-737A-6A33-5FC1-88AF97E0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13D41F7-EC7D-86D6-3018-CC550D9B3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819FD9F-BFA1-46B6-E460-5F2E1F790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2D4E0-51FA-46C9-B252-0E9774DC00F3}" type="datetime1">
              <a:rPr lang="uk-UA" smtClean="0"/>
              <a:t>03.06.2025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0656D8-433A-E28C-BC79-001DDB2E4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67A44A1-0480-3326-7871-CEB80E86C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A2E83-5384-416D-AC47-D59A19E540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7289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slide" Target="slide10.xml"/><Relationship Id="rId7" Type="http://schemas.openxmlformats.org/officeDocument/2006/relationships/slide" Target="slide20.xml"/><Relationship Id="rId12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11" Type="http://schemas.openxmlformats.org/officeDocument/2006/relationships/slide" Target="slide24.xml"/><Relationship Id="rId5" Type="http://schemas.openxmlformats.org/officeDocument/2006/relationships/slide" Target="slide18.xml"/><Relationship Id="rId10" Type="http://schemas.openxmlformats.org/officeDocument/2006/relationships/slide" Target="slide23.xml"/><Relationship Id="rId4" Type="http://schemas.openxmlformats.org/officeDocument/2006/relationships/slide" Target="slide17.xml"/><Relationship Id="rId9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рНУ ім.Остроградського">
            <a:extLst>
              <a:ext uri="{FF2B5EF4-FFF2-40B4-BE49-F238E27FC236}">
                <a16:creationId xmlns:a16="http://schemas.microsoft.com/office/drawing/2014/main" id="{A90F4F91-0994-596F-DF26-18B73A17F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3267" y="0"/>
            <a:ext cx="146385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B220684D-9DC4-CCAA-7F50-7AA4102CA1F9}"/>
              </a:ext>
            </a:extLst>
          </p:cNvPr>
          <p:cNvSpPr/>
          <p:nvPr/>
        </p:nvSpPr>
        <p:spPr>
          <a:xfrm>
            <a:off x="-1226128" y="0"/>
            <a:ext cx="14638531" cy="6858000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A0119-FBF7-AA51-441C-9684CD0F6F03}"/>
              </a:ext>
            </a:extLst>
          </p:cNvPr>
          <p:cNvSpPr txBox="1"/>
          <p:nvPr/>
        </p:nvSpPr>
        <p:spPr>
          <a:xfrm>
            <a:off x="-1190890" y="517814"/>
            <a:ext cx="14603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КРЕМЕНЧУЦЬКИЙ НАЦІОНАЛЬНИЙ УНІВЕРСИТЕТ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 МИХАЙЛА ОСТРОГРАДСЬКОГО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АВТОМАТИЗАЦІЇ ТА ІНФОРМАЦІЙНИХ СИСТЕМ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E42B3-172E-6D55-B663-15BF6E330807}"/>
              </a:ext>
            </a:extLst>
          </p:cNvPr>
          <p:cNvSpPr txBox="1"/>
          <p:nvPr/>
        </p:nvSpPr>
        <p:spPr>
          <a:xfrm>
            <a:off x="-1190890" y="1995142"/>
            <a:ext cx="14647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Презентація про проходження виробничої практики на тему</a:t>
            </a:r>
          </a:p>
          <a:p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0F85F-3BD5-713B-BD78-0791C3DC9567}"/>
              </a:ext>
            </a:extLst>
          </p:cNvPr>
          <p:cNvSpPr txBox="1"/>
          <p:nvPr/>
        </p:nvSpPr>
        <p:spPr>
          <a:xfrm>
            <a:off x="1471480" y="2992744"/>
            <a:ext cx="9322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</a:t>
            </a:r>
            <a:r>
              <a:rPr lang="uk-UA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івельної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фірми</a:t>
            </a:r>
            <a:endParaRPr lang="uk-UA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600EE-B763-077D-6D75-D4237D4A17F9}"/>
              </a:ext>
            </a:extLst>
          </p:cNvPr>
          <p:cNvSpPr txBox="1"/>
          <p:nvPr/>
        </p:nvSpPr>
        <p:spPr>
          <a:xfrm>
            <a:off x="7043677" y="4909983"/>
            <a:ext cx="46530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 студент групи КН-22-2 </a:t>
            </a:r>
            <a:r>
              <a:rPr lang="uk-UA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Панцюк</a:t>
            </a:r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К.В.</a:t>
            </a:r>
          </a:p>
          <a:p>
            <a:pPr algn="r"/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 практики: Шевченко І. В.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CF6D691-94BE-1AD5-377A-AB23BC839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829" y="351209"/>
            <a:ext cx="1276134" cy="1281961"/>
          </a:xfrm>
          <a:prstGeom prst="ellipse">
            <a:avLst/>
          </a:prstGeom>
          <a:ln w="762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4909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39A94FB-0DA5-4E9C-F5F7-AC20D282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11838"/>
            <a:ext cx="2743200" cy="365125"/>
          </a:xfrm>
        </p:spPr>
        <p:txBody>
          <a:bodyPr/>
          <a:lstStyle/>
          <a:p>
            <a:fld id="{DCEA2E83-5384-416D-AC47-D59A19E54078}" type="slidenum">
              <a:rPr lang="uk-UA" sz="3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4D234-7F2A-A6F6-CCCF-1A1F17DFB654}"/>
              </a:ext>
            </a:extLst>
          </p:cNvPr>
          <p:cNvSpPr txBox="1"/>
          <p:nvPr/>
        </p:nvSpPr>
        <p:spPr>
          <a:xfrm>
            <a:off x="0" y="26553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Зміст</a:t>
            </a:r>
            <a:endParaRPr lang="uk-UA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F59D2-F8DF-0C1B-C7E4-C89027A14D30}"/>
              </a:ext>
            </a:extLst>
          </p:cNvPr>
          <p:cNvSpPr txBox="1"/>
          <p:nvPr/>
        </p:nvSpPr>
        <p:spPr>
          <a:xfrm>
            <a:off x="1055688" y="1316792"/>
            <a:ext cx="11136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Основними завданнями,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які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необхідно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вирішити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час проходження практики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DE46D-4EA2-92E0-816F-F5706BBE8FF3}"/>
              </a:ext>
            </a:extLst>
          </p:cNvPr>
          <p:cNvSpPr txBox="1"/>
          <p:nvPr/>
        </p:nvSpPr>
        <p:spPr>
          <a:xfrm>
            <a:off x="1013616" y="1787477"/>
            <a:ext cx="11136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Визначення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місця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проєктованої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задачі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в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комплексі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завдань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та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її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опис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30406-C760-5E51-55ED-299B62A9E1EC}"/>
              </a:ext>
            </a:extLst>
          </p:cNvPr>
          <p:cNvSpPr txBox="1"/>
          <p:nvPr/>
        </p:nvSpPr>
        <p:spPr>
          <a:xfrm>
            <a:off x="1013616" y="2245238"/>
            <a:ext cx="11136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Контекстна IDEF0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діаграмадіяльності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ТОВ «БК СЕРВІСРЕМБУД»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591E2-F895-8F2B-8F16-225CDEB1A681}"/>
              </a:ext>
            </a:extLst>
          </p:cNvPr>
          <p:cNvSpPr txBox="1"/>
          <p:nvPr/>
        </p:nvSpPr>
        <p:spPr>
          <a:xfrm>
            <a:off x="1013616" y="2645348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Декомпозована діаграма діяльності компанії</a:t>
            </a:r>
            <a:endParaRPr lang="uk-U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16D3A-A50D-3F1D-1CE1-947BE17ECEE8}"/>
              </a:ext>
            </a:extLst>
          </p:cNvPr>
          <p:cNvSpPr txBox="1"/>
          <p:nvPr/>
        </p:nvSpPr>
        <p:spPr>
          <a:xfrm>
            <a:off x="971550" y="3085710"/>
            <a:ext cx="1122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Схема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процесу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закупівлі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будівельних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матеріалів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384BB3-F9D6-6588-2C32-2FBAFEDE44EB}"/>
              </a:ext>
            </a:extLst>
          </p:cNvPr>
          <p:cNvSpPr txBox="1"/>
          <p:nvPr/>
        </p:nvSpPr>
        <p:spPr>
          <a:xfrm>
            <a:off x="971550" y="3556395"/>
            <a:ext cx="10582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Декомпозиція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процесу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виконання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будівельних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робіт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994EC-164A-3EE0-67DE-D06B0123ADFB}"/>
              </a:ext>
            </a:extLst>
          </p:cNvPr>
          <p:cNvSpPr txBox="1"/>
          <p:nvPr/>
        </p:nvSpPr>
        <p:spPr>
          <a:xfrm>
            <a:off x="961608" y="4042920"/>
            <a:ext cx="11188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Декомпозиція процесу здачі об’єкту</a:t>
            </a:r>
            <a:endParaRPr lang="uk-U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1A7BE0-04EF-6AF1-111B-2924023C05AA}"/>
              </a:ext>
            </a:extLst>
          </p:cNvPr>
          <p:cNvSpPr txBox="1"/>
          <p:nvPr/>
        </p:nvSpPr>
        <p:spPr>
          <a:xfrm>
            <a:off x="1013616" y="4573436"/>
            <a:ext cx="11188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DFD 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діаграма роботи додатку</a:t>
            </a:r>
            <a:endParaRPr lang="uk-U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D3D961-923A-8BAA-6BAA-48CE666E0BF3}"/>
              </a:ext>
            </a:extLst>
          </p:cNvPr>
          <p:cNvSpPr txBox="1"/>
          <p:nvPr/>
        </p:nvSpPr>
        <p:spPr>
          <a:xfrm>
            <a:off x="1013616" y="5132550"/>
            <a:ext cx="11188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Декомпозована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DFD 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діаграма</a:t>
            </a:r>
            <a:endParaRPr lang="uk-UA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9C0963-87DC-4120-D8CA-197A830138EE}"/>
              </a:ext>
            </a:extLst>
          </p:cNvPr>
          <p:cNvSpPr txBox="1"/>
          <p:nvPr/>
        </p:nvSpPr>
        <p:spPr>
          <a:xfrm>
            <a:off x="971550" y="5591733"/>
            <a:ext cx="11230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Декомпозованиий процес  «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Управління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фінансовими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документами»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847D7-C723-AFBF-CE76-86B997CEA5D7}"/>
              </a:ext>
            </a:extLst>
          </p:cNvPr>
          <p:cNvSpPr txBox="1"/>
          <p:nvPr/>
        </p:nvSpPr>
        <p:spPr>
          <a:xfrm>
            <a:off x="1013616" y="6122249"/>
            <a:ext cx="11188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Висновки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195938-C400-B0D2-8C8B-8A913321A611}"/>
              </a:ext>
            </a:extLst>
          </p:cNvPr>
          <p:cNvSpPr txBox="1"/>
          <p:nvPr/>
        </p:nvSpPr>
        <p:spPr>
          <a:xfrm>
            <a:off x="9799983" y="1305686"/>
            <a:ext cx="3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CDCCB-BC2E-76F0-3F83-79D8B5C42C24}"/>
              </a:ext>
            </a:extLst>
          </p:cNvPr>
          <p:cNvSpPr txBox="1"/>
          <p:nvPr/>
        </p:nvSpPr>
        <p:spPr>
          <a:xfrm>
            <a:off x="8610600" y="1771779"/>
            <a:ext cx="596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D680BE-11E9-45CC-BF47-E2D8A6CE6370}"/>
              </a:ext>
            </a:extLst>
          </p:cNvPr>
          <p:cNvSpPr txBox="1"/>
          <p:nvPr/>
        </p:nvSpPr>
        <p:spPr>
          <a:xfrm>
            <a:off x="8610600" y="2184603"/>
            <a:ext cx="596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F18BEC-EE38-AC99-429F-B3D7E108B879}"/>
              </a:ext>
            </a:extLst>
          </p:cNvPr>
          <p:cNvSpPr txBox="1"/>
          <p:nvPr/>
        </p:nvSpPr>
        <p:spPr>
          <a:xfrm>
            <a:off x="6387336" y="2625446"/>
            <a:ext cx="490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C7B1D0-6EE2-606E-7238-CF7B5FF910C5}"/>
              </a:ext>
            </a:extLst>
          </p:cNvPr>
          <p:cNvSpPr txBox="1"/>
          <p:nvPr/>
        </p:nvSpPr>
        <p:spPr>
          <a:xfrm>
            <a:off x="6387336" y="3020037"/>
            <a:ext cx="336861" cy="47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53E106-3D31-0062-581F-692EDB2CC5DA}"/>
              </a:ext>
            </a:extLst>
          </p:cNvPr>
          <p:cNvSpPr txBox="1"/>
          <p:nvPr/>
        </p:nvSpPr>
        <p:spPr>
          <a:xfrm>
            <a:off x="6869009" y="3529177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DF3803-7D01-27C8-804D-8D773BBFA286}"/>
              </a:ext>
            </a:extLst>
          </p:cNvPr>
          <p:cNvSpPr txBox="1"/>
          <p:nvPr/>
        </p:nvSpPr>
        <p:spPr>
          <a:xfrm>
            <a:off x="5088836" y="4033712"/>
            <a:ext cx="566530" cy="470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F0FE88-113D-EFF6-FA22-9A02B13DE0B2}"/>
              </a:ext>
            </a:extLst>
          </p:cNvPr>
          <p:cNvSpPr txBox="1"/>
          <p:nvPr/>
        </p:nvSpPr>
        <p:spPr>
          <a:xfrm>
            <a:off x="4442791" y="4538465"/>
            <a:ext cx="55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87B5A-8085-7A3F-DA0E-85574DB8423E}"/>
              </a:ext>
            </a:extLst>
          </p:cNvPr>
          <p:cNvSpPr txBox="1"/>
          <p:nvPr/>
        </p:nvSpPr>
        <p:spPr>
          <a:xfrm>
            <a:off x="4442790" y="5059203"/>
            <a:ext cx="55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A2F1A-995A-86FF-0E71-836F4ED0C196}"/>
              </a:ext>
            </a:extLst>
          </p:cNvPr>
          <p:cNvSpPr txBox="1"/>
          <p:nvPr/>
        </p:nvSpPr>
        <p:spPr>
          <a:xfrm>
            <a:off x="8468139" y="5581005"/>
            <a:ext cx="56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4C18C9-1625-B970-382D-583D10EC47AA}"/>
              </a:ext>
            </a:extLst>
          </p:cNvPr>
          <p:cNvSpPr txBox="1"/>
          <p:nvPr/>
        </p:nvSpPr>
        <p:spPr>
          <a:xfrm>
            <a:off x="2302566" y="6094960"/>
            <a:ext cx="55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6268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6D5B8722-3741-FB0D-D645-AF31D070898A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49834D08-73AA-DE17-669C-448B5674141E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C80C676-BEB4-4956-EB68-12B6D7D5E7D3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2EFE78-6DAB-1DB0-23EA-7AFAA1D0ADCD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C6519F68-8187-5701-C8E4-564AA7C2C9E9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01AE22C4-3B97-F305-EDAC-594EED83BD8E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DD34B4-BE9E-1C2F-54DA-638805C9E0D4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00E3AC-1D4E-AD3A-C4A0-DE19C7F521F0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A8888004-9A4C-17FE-570D-D0B1B923A3BB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DAA707C7-2D58-D12D-19FB-DA3AD2F2271E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C9AC6E-576B-87D9-2882-8E8D6B0A1236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443930-C3D0-27E9-522C-393EEA44E234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D5BF17C9-19F2-84DF-A577-5E21D5C1949D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9E142E17-0281-DD6C-3C5B-92690D1C0BC9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30BDBA-CD99-63D3-716A-C474F6FD2F24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9C423D-A6F0-331A-A860-E2193F979E9A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AAAEA9E6-B4BA-8119-80CD-25176090560C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EA5729CD-D5A4-4E8B-BDF0-98589ED4E3EB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299BE6-EDB5-835A-180C-43D5C922991D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1E38DE-EAB3-D41E-A129-0F4ACAE376BC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822CAF65-7DAE-FAB7-D6EF-A3F3DAB1135A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BD6F1D01-1470-0730-F563-9509290CDCAD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9857F8-EDF4-2AB1-A24F-D0F96E951AEA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C9DAEE-4DCA-CBF1-6CE9-A98F88195A4E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C3DA918-1F52-E6FD-7F09-C0CFCD5E011A}"/>
              </a:ext>
            </a:extLst>
          </p:cNvPr>
          <p:cNvSpPr txBox="1"/>
          <p:nvPr/>
        </p:nvSpPr>
        <p:spPr>
          <a:xfrm>
            <a:off x="2564617" y="1917291"/>
            <a:ext cx="97279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Основними завданнями,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вирішити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час проходження практики, були:</a:t>
            </a:r>
            <a:endParaRPr lang="uk-UA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9823E-0765-4C84-6FAB-0BB8E80E812C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87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048C6-7F3A-3C5C-A7E2-7AFED92F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53CA9D5A-48A8-927A-E6BE-8F9AF17A2839}"/>
              </a:ext>
            </a:extLst>
          </p:cNvPr>
          <p:cNvGrpSpPr/>
          <p:nvPr/>
        </p:nvGrpSpPr>
        <p:grpSpPr>
          <a:xfrm>
            <a:off x="0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7CAEEE7C-BA7B-8C69-D0CA-092D94E8815C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D7F343-75C8-7A1D-D40F-16181E7BB64E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DC3A0D-F5C6-2398-62DF-83F707BD0AA6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51D6CA29-975B-1756-F357-3914DFAF6973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870F8278-A9CA-BE36-5343-70C4DED1F24F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81F0B2-4FD0-DE20-91D9-ABBB0930AE91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4AC9D4-B356-D81D-0A60-708E26526A20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0CEF05A9-9E53-CEDF-7D6B-F36A5AF2988A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79418697-11F3-BA59-7C19-2E7E82705851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ADB6A8-79C6-0F49-3070-53D568863072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3CE968-8365-73E5-95E9-9778CC7BA80E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865D96EB-1A84-A0C8-B4B8-636A3BD48A50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F14F945E-30EA-2130-4788-EB61562DF8F2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6A3FAB-1B22-37B1-7B0E-AC2FA6FBD3FB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41D101-FCAD-6E83-A567-3AFB3C37F60B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7804A06F-2852-AE62-7BC5-666C3139B790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764B2C0A-20E0-CCAB-09EC-E3B7CAFA3D0A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192D55-B73A-06E4-0344-4415239B3BDB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0A67AA-7E8F-90A0-0866-03C191461899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7D960216-743B-E79A-FC11-4FDACC26320F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057AF06B-EBD4-521D-867F-DF8F805C6C36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FBB06-A083-A6D2-6408-9FD5581ABB63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299D8E-B9F8-9400-31C8-0C97D85F3D93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41D55B9-F7F6-A3C6-D585-85D3D7F9E916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281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01173-5ECD-CA6D-5787-DFE8D4F2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5CBB461D-6BFD-A691-9954-9ECD4A7BFADB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FF0B14FD-5AF6-EB3B-B312-A294093CA54D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F68B607-B9D5-F147-A460-02C2C98DDF43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9E725D-FADC-A717-03F8-0D70E5B95F90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884306A1-FD6A-E23C-BE46-35661029C95D}"/>
              </a:ext>
            </a:extLst>
          </p:cNvPr>
          <p:cNvGrpSpPr/>
          <p:nvPr/>
        </p:nvGrpSpPr>
        <p:grpSpPr>
          <a:xfrm>
            <a:off x="-114463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B2C59548-CB84-542A-0D2D-AA70F42AFAEF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4AE832E-16AE-E309-0C69-4DF02F32B17E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5FACB9-221D-F95C-7D38-60B07D89E9FF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9C766F14-6BC9-A1F3-BCBE-4E6743ECDDFB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3F435A0F-B5A1-EDCA-F920-6FE25AE37902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FE087D-68AA-F18E-67C8-A138365A4701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29345A-578A-287F-A5EF-4F796A32101D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69ADFD2A-E856-FC6A-9981-5AA2E6BEBB65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66A59F4E-CF19-4077-1E0E-8BF89B900510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5E340C-A8B9-9AE5-AEA5-6B2252731487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D8C475-A87F-0D22-4ED1-496A198BAF23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8FD51A31-C65E-29F8-842D-4E8B47C0139A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DB6A38EF-BB29-E519-0E81-1169B8E09364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851E03-A686-5552-DC2A-C07EBF8A4B1C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1FB6121-E0F7-9AEF-CB51-DD6D8D0179AE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97E57724-0657-4C6A-F613-FEA36AD6FB22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A6215DF7-B8D5-C532-8CA1-7EB91C112BE6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87420C-DC73-E9DD-32B7-F8CCA5E4A1C9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C47B19-2050-8753-2CF3-91635855AB2C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1370F85-1708-58CB-92B3-BF350349A63B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070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59A9F-26DF-2601-A201-72B104E7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83391AF4-CDF9-E25A-3EBC-E5CA930C0045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80594006-A2BB-49A8-7DA7-31D3917254AF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AB663EB-075A-3304-C939-854548180FC5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48EFB7-BADC-CBBE-1831-DDCA5ADECEA9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15B389DF-4CEF-55AE-F1B8-A41F16AA86B0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03135EBF-3308-2406-AAE3-4158EBF9B20F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1CC4C7-AFA9-A927-39EC-19F6AE52B65E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162642-4490-87EF-789A-6C4B493C16A8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5C2D285C-3C28-22D8-AA73-004F9D150C4A}"/>
              </a:ext>
            </a:extLst>
          </p:cNvPr>
          <p:cNvGrpSpPr/>
          <p:nvPr/>
        </p:nvGrpSpPr>
        <p:grpSpPr>
          <a:xfrm>
            <a:off x="0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CFEE5622-B8C5-17CE-7C26-5B76A4491A44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9F3CA3-153D-9B47-F3C1-24559952CCE5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976A67-E7A2-1A0A-A43B-A2E8EEEF3339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FFE9000B-D459-AA96-CAB0-7C3AD0D45AAE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18376A91-D22E-350B-0DC8-5B1EB667C440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83F29F-5965-390A-BE8C-05A6007DECD4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0938D1-7572-2214-7C2B-6E5A4A7B5241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A46E4BE8-CFFA-9924-95EA-822F2692C7A3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18962325-FCCE-6271-C5DB-D5AF81C0C64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0A6457-051E-FA2E-7DB8-2651322A8E33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F7D7FD-7155-E275-7904-70099D77EED8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1D5BEE20-911B-72A0-6CA2-3A4563A0864A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255D1C75-C4D6-6AF7-80B6-F983C41FA6B5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047C3C-44E3-115F-0052-A37DF77FC96A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3F9C84-EC1D-A361-AC3C-05E02C72F18B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5868156-3EDE-5387-4AF3-79A05557A248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21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11908-390C-26C3-AF00-1ABF94E8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59BD888F-9371-E9F0-A580-D98D29BB2887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54140F7D-004E-82F4-EC13-F504392CDDDE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B3929C9-807D-47DB-1958-48DE10FD5371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EE09A6-E62A-5540-541D-7CB2E986A927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8BF09699-6709-357B-1978-9175FA904C83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F227D832-34C8-B0F8-08DE-2369ACFFD081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965F1AC-49D8-E007-2A05-CF6E45D929B2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AE5415-792C-425A-44B0-16792635F1D7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5BF9AD34-1E10-9A2E-CCF7-03DBBB1DC53B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762E3255-397B-142D-F007-C20F444D356E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BFE7D5-0A8D-3D1A-B964-BD464A71BDF3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495CF9-915B-A9B0-6E19-86C8571C7CD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8AF5AB0D-7FD3-31E1-4B82-ECE14C15A63E}"/>
              </a:ext>
            </a:extLst>
          </p:cNvPr>
          <p:cNvGrpSpPr/>
          <p:nvPr/>
        </p:nvGrpSpPr>
        <p:grpSpPr>
          <a:xfrm>
            <a:off x="0" y="3374549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CDC50B46-FB4B-9CC2-D3E3-C473E0F09D90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2A4D90-B77F-EF81-9ACD-B7099FCBA955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32E5E6-C830-7F5E-5195-1B3BB0EC64E1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9A5B60CA-1B85-9853-1EC8-C131C61902A5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80CAA47C-6FE2-E976-D857-F7B99DB300D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1B0D16-3EDC-0A4C-EEB5-E40F21F71A7D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7A593B-F66B-593F-A24B-C1ECECCE5471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C2F2D520-3D0D-77C7-8223-3F3A4032A72E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7F093A1A-3CFC-BD5E-EDD0-455689F3D82A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FCD253-02B6-87A4-17F2-9264A236C6BC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D7572A-6B8D-FC10-A966-925A5C23C2B2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9B9D180-CEE1-3A11-1E40-CD429AB45C47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41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74B34-D9AB-7A6F-A92D-F8D962FC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09A5716B-55BF-E18F-3253-B9D95F6E8B4F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3719F7C3-8545-2D7C-F20A-C15A1A84EA52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80897DA-291D-1209-BCC0-A36FC3E32279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9C0DF6-309A-58DF-B83A-C3142ABC3E86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65F5CEE1-0FD0-3667-08CA-0101951FD160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D1C7F963-F6BA-20F8-49B4-135EBC719D63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DFAAE14-125E-FE0F-BE30-9C017CC447DF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F3828B-A30D-1D6F-0D18-30EF0A543936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FFC09BD2-C639-7EB0-BE7B-8804A89C90A2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455E7FE0-542F-FCA1-D10C-1874FF4B6DD8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68F316-ED6A-7D8C-D0FE-2E8A6B6A4467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A047F2-8F3E-8F2D-A83D-79C8910B18BD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281A3D50-248E-2CC2-50F1-31981086B3AD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1817DE9E-88DA-2E83-7698-26A1822FB0D0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9AA865-E5E4-A591-9C80-70D18E02F90E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406CBE-E8F6-0D29-710D-9DD34CF3A298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D8E88F33-4DC7-83F7-F8F9-F171256A2561}"/>
              </a:ext>
            </a:extLst>
          </p:cNvPr>
          <p:cNvGrpSpPr/>
          <p:nvPr/>
        </p:nvGrpSpPr>
        <p:grpSpPr>
          <a:xfrm>
            <a:off x="0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20AFF36F-CF25-BA2B-DEAA-2E0E2A47F2A8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B556FE-B0C1-B596-F7C5-B8FA324BEB21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ABA9C2-B7D4-6626-D35B-8E5A809E9E6E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FEC9B089-2289-B457-E805-C53565046423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6642977A-51DB-0465-F6FC-2A1BB91E572D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564232-AD2B-EFA3-32FC-A11C7C9017B9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482C74-BA86-ECFE-B3A0-04467E83D888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59EF0F-E54D-E5CF-DE55-3A4BE6ECA683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89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D0F4E-A135-EB98-2CE4-D1C0100C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C2931C98-6229-5CAD-2BB4-7D07619CC617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DCAFD80A-EF2A-D3E1-72C8-8165369A1D3A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A49B94B-4EF4-5E3A-7D99-60A1E723705F}"/>
                </a:ext>
              </a:extLst>
            </p:cNvPr>
            <p:cNvSpPr txBox="1"/>
            <p:nvPr/>
          </p:nvSpPr>
          <p:spPr>
            <a:xfrm>
              <a:off x="365504" y="142358"/>
              <a:ext cx="99656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діяльності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її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ключових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напрямків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специфіку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4550DC-DA6D-874C-E234-B83F90984E5B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5EDFFFC6-AEEF-6243-2DB5-3223F6E8923D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86782061-2E4B-A546-7B2D-15FCE5F76DF7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3410B0-89B8-759D-67B4-73CC66B17E2A}"/>
                </a:ext>
              </a:extLst>
            </p:cNvPr>
            <p:cNvSpPr txBox="1"/>
            <p:nvPr/>
          </p:nvSpPr>
          <p:spPr>
            <a:xfrm>
              <a:off x="365504" y="1265479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Дослідження існуючих засобів управління інформаційними потоками та оцінка рівня автоматизації внутрішніх бізнес–процесів.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32BD6E-3702-8F4E-A0AE-696A6BAB1B08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58B16D5B-B734-6F23-CE01-779B5C450A80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E8C9BF68-FBE6-5040-75E5-6EEC3E41886E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55915E-C761-1EAE-164E-AB7A862707DE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Виконання функціонального моделювання ключових об’єктів автоматизації та визначення можливих напрямків їх оптимізації.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6A53E9-D64F-239C-1071-870800060ED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3CA6C9BB-43E8-E2A6-96A0-02C8F6AF89D3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253165E7-884D-C58E-77D1-2966BEF3C4CC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D0B1E4-AC54-6E7B-7EFB-885156544474}"/>
                </a:ext>
              </a:extLst>
            </p:cNvPr>
            <p:cNvSpPr txBox="1"/>
            <p:nvPr/>
          </p:nvSpPr>
          <p:spPr>
            <a:xfrm>
              <a:off x="365504" y="3515424"/>
              <a:ext cx="97779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Аналіз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потреб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вдосконаленні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системи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обліку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працівників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графіків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внутрішньої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документації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12E75C-3ED4-0ECA-509F-9B78736D4E8E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69FA8A62-E5EF-0320-4892-5D3C168659A4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08719455-3AD4-7C1C-1AD8-5248FE1122ED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687E28-3AA0-2AE5-C826-F3E0CDED737C}"/>
                </a:ext>
              </a:extLst>
            </p:cNvPr>
            <p:cNvSpPr txBox="1"/>
            <p:nvPr/>
          </p:nvSpPr>
          <p:spPr>
            <a:xfrm>
              <a:off x="365504" y="4638545"/>
              <a:ext cx="8585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A0514B-DBE5-656D-FCF3-B571D9CD0B95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994FE869-B7E3-75DB-7B97-861C2BEC8F9A}"/>
              </a:ext>
            </a:extLst>
          </p:cNvPr>
          <p:cNvGrpSpPr/>
          <p:nvPr/>
        </p:nvGrpSpPr>
        <p:grpSpPr>
          <a:xfrm>
            <a:off x="0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CF8817D0-A311-954A-A71F-105380AB61F8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06BB4A-DC9C-0AC3-E79F-86B95EAD1C74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Визначення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функціональних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розробка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відповідної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функціональної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027BBE-9A1C-B62E-8354-2910598684D9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653D87-CB00-E6DB-845A-2C36738CA7AD}"/>
              </a:ext>
            </a:extLst>
          </p:cNvPr>
          <p:cNvSpPr txBox="1"/>
          <p:nvPr/>
        </p:nvSpPr>
        <p:spPr>
          <a:xfrm>
            <a:off x="11328400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89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B6594-D9E9-1481-31AB-5B38EA40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CD9077BC-CAC0-D08F-EE8E-2FCD37536F47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C2E147BD-CF6A-5D01-51B7-B2DB13E236DE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EBD60CD-9F79-8EFB-2175-F5A36ED1A66A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6324AA-B445-885E-0024-1D9B6A788531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24553E73-C690-4217-3798-2E3BED3075AA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BCC8A9BA-77C3-B1D4-06E4-F0CBCECC737F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06D6B5-A30A-CFAC-9E6B-6ADB4AAB187A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F0A85E-7255-C8C5-E0B6-3D29846B8C56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91C9033E-0F33-0BEB-0718-335DDA87A733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1BFBF381-5395-C2C5-575C-7DD7F41E3026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DA0629-EF4F-C309-1FB5-648AD066B4A6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6F8DEC-D499-965E-9DB1-93CB9A9D7A58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301C45E0-C15D-645B-AC27-DD0A10AA5633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93F508D9-2A03-04D4-9100-14250D62CE6D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8DE2B8-08EE-BF73-9372-DFCFBE931A51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B67C22-F075-6B43-8FE9-9292124C5112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A61451E5-4821-68AE-3033-A4D5E36E8204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95B824A5-F71C-4BA0-1DD3-9D2CB970654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18A321-8D2C-1917-776A-BC46691FE2BA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95BFE0-30CE-1549-D649-AA9C2C7A85F0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D74D0121-FB87-65F0-AA0A-8A1B0D2E620F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56AA5D19-B7E5-1E27-CDE9-F3CD104EF64D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59CD1A-715A-9A6B-9878-6FE4DBC59296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E75E39B-0623-A8DA-1EE3-B13F6613E001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D95A1C3-193F-833D-8375-1DE86D343E13}"/>
              </a:ext>
            </a:extLst>
          </p:cNvPr>
          <p:cNvSpPr txBox="1"/>
          <p:nvPr/>
        </p:nvSpPr>
        <p:spPr>
          <a:xfrm>
            <a:off x="2566273" y="2007319"/>
            <a:ext cx="972794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місця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проєктованої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комплексі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завдань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процесі дослідження структури та роботи будівельної компанії, було виявлено ряд можливих покращень та удосконалень для спрощення процесу управління компанією.</a:t>
            </a:r>
          </a:p>
          <a:p>
            <a:endParaRPr lang="uk-UA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30E61-48D5-C2FD-E11E-E3ED997B279A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035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045E3-A4AB-5C19-1C88-744A07EB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ABFA1ADA-8F9E-4555-1F75-EA255053FD35}"/>
              </a:ext>
            </a:extLst>
          </p:cNvPr>
          <p:cNvGrpSpPr/>
          <p:nvPr/>
        </p:nvGrpSpPr>
        <p:grpSpPr>
          <a:xfrm>
            <a:off x="0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0569C0E2-A216-DCAD-3573-2C45334BD05A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85373D5-2DA9-35E3-B995-1B23A13D062C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4B66A2-055A-9544-D6B9-026DF934C9D3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FB6BC411-C1BA-45C4-AD40-247476EB82DE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3D58828D-ECCA-F9EA-973E-A9A428344861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F8E638D-B7AF-AACF-9236-DA5A788A52C1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A19674-7D0A-C7E8-0CB1-52B3E9EBA205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36628629-B032-E9F7-A18E-E87FF2B6A59C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6141234A-BBBA-5988-C0C3-64E9EFF93A87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BD99B9-95A0-A9B7-EFF1-1D92FDDE94B4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4B95A1-3158-8CA2-4DC2-F174CE47111E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8A490354-B483-489C-9FDB-52B49D6AACF7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19F1B327-3B15-906C-D397-2E335C95211A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7345DA-28D2-A6FD-640D-F61038D587E7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124FB9-0B58-83E5-E2B2-AEE37060632F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94C3F88F-F942-20B3-37AE-D5DBFE08FBAF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F9BC94A2-70F6-B96A-5716-9D4900DF9826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FE066D-5DAF-76FC-6507-C2E3D81E2C42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730613-959A-33EF-3D99-3B5ED9DF1570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9AA31944-CAE9-4CB8-9D7C-F63FD68A847D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F9195A72-5908-0B61-DBE1-8737F1880DFD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178A1B-18AD-CD6D-3852-AB4A777066A1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16A4E0-A5BB-19DD-7DF4-B686692983B2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83B207E-8437-04CF-11F4-014DFCF1B38D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0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E1110-B1CF-E2A0-32E9-98357E60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DD802454-CFD7-B05C-9890-12AFBF0EABCB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869A0E20-D2CC-AB2E-4705-940A08C46198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D8270C-6C8C-A755-3D80-F9B4D2C99865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B29FD4-0F48-2C6A-7A47-0FA150A771C6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A7D96DDE-540F-F753-B50D-B4D90450A965}"/>
              </a:ext>
            </a:extLst>
          </p:cNvPr>
          <p:cNvGrpSpPr/>
          <p:nvPr/>
        </p:nvGrpSpPr>
        <p:grpSpPr>
          <a:xfrm>
            <a:off x="0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6CC7D6FD-132A-803B-03F9-10A5B999415F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9F25579-16DC-8D8A-365B-06827D88C124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A6B40A-7FDA-2163-2020-5A7AD0363D86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6754D932-A7F0-4F98-55D4-CCBAA5318EDE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496D5AA6-E21C-3759-7235-04C7646E00F5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D7D797-AABF-548D-3D71-EA8EF2766062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BD2CB9-AF2C-40AE-51F4-A5BDF58DFA1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FBA6F2B4-A518-6C98-A308-8CDD48E5304F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07135987-BFC8-ADE8-D53A-8C667C016C12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AEC11E-5BEA-BAFA-D6A9-9BAA7E8874DC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EDBB89-EDCC-19BC-40B0-7B1401C583EF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6205C4D4-EC5F-68A1-A434-AF13DDC9823C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E7EEDBA4-C7E2-AA50-FE6D-80946774293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4AB5DE-532C-C4EA-EBC7-225E9A2BB9EF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324348-EC57-A4C7-6EDB-E54510075A10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B4731CBD-61E7-32BD-F5AC-8A182A9EA9C1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A378DAF7-C3A2-025D-863E-000FFA8BBA31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D3A2BE-D01A-40C3-3029-8C94D159A010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8252A9-CEE6-2A80-9630-FFD5B5F8919C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74D4ADF-F5A4-339F-9172-5611A95DAD6C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15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07305-910D-F88C-3F1B-09C20B61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029CD0B0-DDE1-0ACA-CFF5-BF7D7798BC1B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CD7CBF3E-DCDE-8B74-A1E5-7CCD91213181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7F55A76-7B6F-E3F9-5C87-CC9CBEC3686B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975889-6C1A-30BF-D202-EDBF474A2742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A2ECDADF-810C-E485-BE8D-68F878D54701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A84BF3E7-57BB-604A-4F12-9A210C296B38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30FB8-6A4C-CFD5-1CB8-76004C1F0C35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BD5394-13A6-C2A3-85E2-20E87B3041F0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0F357837-68B7-9133-C79A-4AEA601D6053}"/>
              </a:ext>
            </a:extLst>
          </p:cNvPr>
          <p:cNvGrpSpPr/>
          <p:nvPr/>
        </p:nvGrpSpPr>
        <p:grpSpPr>
          <a:xfrm>
            <a:off x="-2482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E4226B8B-C1CA-8456-50F6-BEC8911EEFF0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EF0F9-567E-C4A5-5B2B-62DF530FEFE5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D721D1-7002-CFF5-0522-76CB563E0636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A08C994D-E395-934F-4CD5-1FD3FB97F735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FA540B45-45B6-8801-BF09-2F95C7AFC461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C4ADEB-3DCC-3822-C5A4-DAA95D271B33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1A8C9A-4C99-4ECC-D70C-283AC9C46C3B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C3863B50-F39E-0414-5D23-60C1DD6AE6AC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158A4122-7BE1-812A-5F29-20286E726499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2110C7-562E-4932-8183-4D18A2101503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EE7FCF-9876-A4AF-3581-E4FE54366707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4E6E4C35-577D-C022-D17F-52E391BCE013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734F3A3D-1884-14EB-65EA-E09BC26DFD2E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A77364-6AC3-AF02-9AF3-5A2066FCA12D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7900FC-A8E8-B206-0F5D-FF5160C3B224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33DCBA-965A-2FC1-22AA-5CCAB2C1378D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460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7F65D-48FF-B17A-2721-F7D84E8E7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5A1646BF-B148-7128-3D84-DC3CA1A636C6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BB145198-603F-921C-B005-A7E003FBB115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84EF7BD-3388-E2F3-3005-82B30C90C988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E7EC68-ED94-35B5-47A1-2939716726F9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70A2E3A2-4114-4B6F-0E49-60B22394F365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948CF064-CBDD-2CCF-3CAF-476BCFD54438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ECDF46-876F-7932-60DE-2DA5B4F88F39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B3DCD6-FF33-9088-DA03-8E2C34287CCF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1B96DBE1-997C-42E4-5205-65B6304187EA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743BD5D4-7159-FE24-F758-C651DB474809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96296F-3AA6-62C3-B025-704CDC1A0383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7F5ADD-EC1A-9658-9128-3D2C08EA42A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6DCA5CA8-8089-BA89-CA64-91A54FD6F3A0}"/>
              </a:ext>
            </a:extLst>
          </p:cNvPr>
          <p:cNvGrpSpPr/>
          <p:nvPr/>
        </p:nvGrpSpPr>
        <p:grpSpPr>
          <a:xfrm>
            <a:off x="0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9449316A-BBAA-4824-355D-46A1184FE6D6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42BF5B-4D02-7881-F93B-8B5C4BA5345C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21C20B-FD46-3D35-FC3F-DF9F6F83A480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C63822F8-C5C6-E13E-DEFE-363DB899F31D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51BE1FB0-3A17-279D-A6E5-94134425041C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EBAAB1-B608-39CE-3C56-ADCD252E2BAF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C7FE16-6BB4-7216-19FE-2DC639848161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37052EE6-B734-EEFE-DB37-4C26091A767F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219EA433-9C54-7BE6-440C-63BBDBAAB71A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D8D61-CAFA-C165-DFFE-76DD7E53AD67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234861-B436-E679-2456-A32DDB72EA43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11DD76-5CDD-6935-98A4-2A69F51D31F9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503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695E3-13B2-3641-3746-ED52F27B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03D365B0-EBEA-778E-2ADC-DFABAE9E654D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994E9943-7A19-1FAE-38A8-2A3513C09064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51000F2-2525-2A76-56E3-9BD72B5F0F5C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538F4-20C6-9F9C-0ED9-A79644DDB5BD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8848B55C-0B2C-F5BC-ED94-0BC9624B8618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552C4037-5E98-5A59-9C45-031BE9C6049C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4A21C42-D39D-BEC6-FD8E-13483DF9E093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D62D6-1CDF-5423-0D88-BE7D4B8B8A2A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9D435FA2-EA43-026C-8146-F78A692AD8C2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6F328EDE-26FE-61B2-7CD7-DC8A28A8FB42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5C022F-EC6F-DE3C-2371-4DCD3E5427DC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5E2D3A-BF08-289D-4AC2-E659EC4FDB51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49E75928-C101-6FAB-87C1-B794CA106DC7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4B3CC359-AFCC-9B17-235A-CAF8AE957379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F97243-D6C5-CAC3-0C5D-96F386AE05BA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EAD3BD-9F18-F474-907A-499680E67FA1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25AD8632-73EA-D03C-EEB2-8151FD1989AC}"/>
              </a:ext>
            </a:extLst>
          </p:cNvPr>
          <p:cNvGrpSpPr/>
          <p:nvPr/>
        </p:nvGrpSpPr>
        <p:grpSpPr>
          <a:xfrm>
            <a:off x="0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2C27CAC5-7CED-3E28-EBFA-17C46E7C8B18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2519A5-AF09-C2D8-7FC0-DA83B7571A67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BECBE2-8741-9B5F-1D22-E6FF3D224923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0E2A3D19-6916-E511-2662-C3A22176FE43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E0997C13-87F9-0697-7E42-1EC1FE735F99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CBBC4C-FA09-5155-68B0-7B674DD8AD4F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C7EDD6-A214-C922-629E-91AD4509A946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02F2500-B3C6-8027-B6CA-C1A6C562A654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565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5C379-4E9E-7124-72C9-0006AED9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47F152F4-4F81-4A55-8747-5C34ED7EE7B0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0" y="0"/>
            <a:chExt cx="12192000" cy="1123121"/>
          </a:xfrm>
        </p:grpSpPr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BB81428D-594B-C7CB-842E-29950127B314}"/>
                </a:ext>
              </a:extLst>
            </p:cNvPr>
            <p:cNvSpPr/>
            <p:nvPr/>
          </p:nvSpPr>
          <p:spPr>
            <a:xfrm>
              <a:off x="0" y="0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34B44A1-D9CC-7337-FA83-73C109F9F53E}"/>
                </a:ext>
              </a:extLst>
            </p:cNvPr>
            <p:cNvSpPr txBox="1"/>
            <p:nvPr/>
          </p:nvSpPr>
          <p:spPr>
            <a:xfrm>
              <a:off x="365504" y="367675"/>
              <a:ext cx="9965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ія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обліку працівників та клієнтів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57D1FA-CA7F-0F24-A91B-6F04A0428961}"/>
                </a:ext>
              </a:extLst>
            </p:cNvPr>
            <p:cNvSpPr txBox="1"/>
            <p:nvPr/>
          </p:nvSpPr>
          <p:spPr>
            <a:xfrm>
              <a:off x="10237304" y="9067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EC5C444F-339D-E930-4F3B-9677D2EE6E05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0" y="1123121"/>
            <a:chExt cx="12192000" cy="1123121"/>
          </a:xfrm>
        </p:grpSpPr>
        <p:sp>
          <p:nvSpPr>
            <p:cNvPr id="12" name="Прямокутник 11">
              <a:extLst>
                <a:ext uri="{FF2B5EF4-FFF2-40B4-BE49-F238E27FC236}">
                  <a16:creationId xmlns:a16="http://schemas.microsoft.com/office/drawing/2014/main" id="{F6A998ED-DD43-024F-2AE0-FE6DA0A81A54}"/>
                </a:ext>
              </a:extLst>
            </p:cNvPr>
            <p:cNvSpPr/>
            <p:nvPr/>
          </p:nvSpPr>
          <p:spPr>
            <a:xfrm>
              <a:off x="0" y="1123121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B5DFDDA-CC38-25A3-FC33-2E73A083F1DA}"/>
                </a:ext>
              </a:extLst>
            </p:cNvPr>
            <p:cNvSpPr txBox="1"/>
            <p:nvPr/>
          </p:nvSpPr>
          <p:spPr>
            <a:xfrm>
              <a:off x="365504" y="1490796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графіку роботи працівників та автоматичне створення бригад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CE7588-E102-9E3D-7E4C-FA230DD07260}"/>
                </a:ext>
              </a:extLst>
            </p:cNvPr>
            <p:cNvSpPr txBox="1"/>
            <p:nvPr/>
          </p:nvSpPr>
          <p:spPr>
            <a:xfrm>
              <a:off x="10237304" y="117685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EF4E5139-4E11-2B19-B006-2E85FCD98138}"/>
              </a:ext>
            </a:extLst>
          </p:cNvPr>
          <p:cNvGrpSpPr/>
          <p:nvPr/>
        </p:nvGrpSpPr>
        <p:grpSpPr>
          <a:xfrm>
            <a:off x="-9989575" y="2246242"/>
            <a:ext cx="12192000" cy="1123121"/>
            <a:chOff x="0" y="2246242"/>
            <a:chExt cx="12192000" cy="1123121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8CB4E2E7-5F7D-0484-5E85-A05F680432D7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F6D245-6E02-875E-A065-AED973430BF5}"/>
                </a:ext>
              </a:extLst>
            </p:cNvPr>
            <p:cNvSpPr txBox="1"/>
            <p:nvPr/>
          </p:nvSpPr>
          <p:spPr>
            <a:xfrm>
              <a:off x="363848" y="2613917"/>
              <a:ext cx="95096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Формування довідок, платіжок та паперів різного типу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0DBF26-7DAE-3CAA-C0AD-8A7AEBCFD7CD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39C60D41-4059-1B02-5335-BF2784AD9A0B}"/>
              </a:ext>
            </a:extLst>
          </p:cNvPr>
          <p:cNvGrpSpPr/>
          <p:nvPr/>
        </p:nvGrpSpPr>
        <p:grpSpPr>
          <a:xfrm>
            <a:off x="-9989575" y="3369363"/>
            <a:ext cx="12192000" cy="1123121"/>
            <a:chOff x="0" y="3369363"/>
            <a:chExt cx="12192000" cy="112312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29EDE276-0150-F441-AAB4-C76F7C6A5C5E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74C5AF-FD75-7740-45D0-2B3E1F4E0FD8}"/>
                </a:ext>
              </a:extLst>
            </p:cNvPr>
            <p:cNvSpPr txBox="1"/>
            <p:nvPr/>
          </p:nvSpPr>
          <p:spPr>
            <a:xfrm>
              <a:off x="365504" y="3737038"/>
              <a:ext cx="9777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Перегляд та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ведення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різних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довідкових</a:t>
              </a:r>
              <a:r>
                <a:rPr lang="ru-RU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матеріалів</a:t>
              </a:r>
              <a:endPara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3782D1A-7FE4-C987-2597-3ED6916F81ED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30F4B34F-3405-CF7D-65C0-9280CAF1D0FA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7FCC61CD-87C8-0808-8F45-8546BC89A0BC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334AAA-A424-F79B-2AD4-FA092E64DF1B}"/>
                </a:ext>
              </a:extLst>
            </p:cNvPr>
            <p:cNvSpPr txBox="1"/>
            <p:nvPr/>
          </p:nvSpPr>
          <p:spPr>
            <a:xfrm>
              <a:off x="365504" y="4576858"/>
              <a:ext cx="8585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5E7A7F-D3D8-F469-9C18-B62E7AD5C7BF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3500DD05-53C0-72CE-4934-CC88ED7C48BE}"/>
              </a:ext>
            </a:extLst>
          </p:cNvPr>
          <p:cNvGrpSpPr/>
          <p:nvPr/>
        </p:nvGrpSpPr>
        <p:grpSpPr>
          <a:xfrm>
            <a:off x="0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419BCB66-6C19-2FDB-90A1-4416DA74187E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1B80EE-7373-A38F-7D4D-49D78A5CC949}"/>
                </a:ext>
              </a:extLst>
            </p:cNvPr>
            <p:cNvSpPr txBox="1"/>
            <p:nvPr/>
          </p:nvSpPr>
          <p:spPr>
            <a:xfrm>
              <a:off x="365504" y="5761666"/>
              <a:ext cx="90921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Наочна демонстрація початку та кінця роботи над об’єктом з використанням діаграм </a:t>
              </a:r>
              <a:r>
                <a:rPr lang="uk-UA" sz="20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Ганта</a:t>
              </a:r>
              <a:r>
                <a:rPr lang="uk-UA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E84440-C249-9DD0-73E6-F7BA1F37AFC1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E4E1B4-A52F-2B65-A21E-1F426F8A7A92}"/>
              </a:ext>
            </a:extLst>
          </p:cNvPr>
          <p:cNvSpPr txBox="1"/>
          <p:nvPr/>
        </p:nvSpPr>
        <p:spPr>
          <a:xfrm>
            <a:off x="11268783" y="5913636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0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01EA9-52A7-1201-1989-24C2105B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ED399B0-6B02-DED8-F8DB-F4FBABA12CD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50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AB7FD02-7E32-BADB-66B8-2A442ACBC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497" y="1521080"/>
            <a:ext cx="7609005" cy="50061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660E34-C074-6863-DA69-564B82DD5915}"/>
              </a:ext>
            </a:extLst>
          </p:cNvPr>
          <p:cNvSpPr txBox="1"/>
          <p:nvPr/>
        </p:nvSpPr>
        <p:spPr>
          <a:xfrm>
            <a:off x="0" y="9939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 IDEF0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діяльності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ТОВ «БК СЕРВІСРЕМБУД»</a:t>
            </a:r>
          </a:p>
        </p:txBody>
      </p:sp>
    </p:spTree>
    <p:extLst>
      <p:ext uri="{BB962C8B-B14F-4D97-AF65-F5344CB8AC3E}">
        <p14:creationId xmlns:p14="http://schemas.microsoft.com/office/powerpoint/2010/main" val="3235581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705F0-D707-A1B9-F095-292FD1EC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BFA0842-D914-76A3-8905-1435113D670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50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ADF089-B565-6537-6299-C3DB59044ADF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Декомпозована діаграма діяльності компанії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9F89EB-FCB7-92D5-ED79-5FF4834B5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7" y="1307821"/>
            <a:ext cx="8048487" cy="531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29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2FB57-341A-88AC-BD1C-CCE918BA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3DA4A3F-34E9-9BAB-03EA-DDF52C20466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50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0A17D-8341-78D6-34CC-6D8098D6101A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закупівл</a:t>
            </a:r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 будівельних матеріалів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99BE46-69BC-CB51-BF9F-522EDA885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52" y="886585"/>
            <a:ext cx="8660362" cy="572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8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264E0-170D-D69C-C391-86932446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B7D8856-E8FC-1167-8BAB-CB55F8D8639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50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46CF6-388C-9D08-0962-C31D4BB6D697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Декомпозиція процесу виконання будівельних робіт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D26C90-74EE-1193-0642-098492E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26" y="1048357"/>
            <a:ext cx="8316843" cy="543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0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D9A07-19E6-072E-4634-2CB4FA0B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54DE6A8-E3CD-E7F4-9870-08C1118DF83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50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C23C0-6317-673E-EC6A-7ECE2613A585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Декомпозиція процесу здачі об’єкту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8C2068-AB68-6E5C-6FA8-6EE468635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15" y="1065212"/>
            <a:ext cx="8314969" cy="544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54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F7ADB-4E8D-DF34-5B77-6293D0BB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37DB493-4D73-8EF3-8C1E-309A675B5FD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73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C98C5-E974-0AE5-8619-1A9F23BBBA80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роботи додатку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3720B9-3BB2-2B80-D406-415822CEB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02" y="1116107"/>
            <a:ext cx="8055727" cy="535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96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67C2E-55D5-9EDD-82D0-7D628958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1BC29EB-3B97-49AA-4924-20745B06CB1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73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F6579-C4E6-3B3D-3C1E-F6875D187151}"/>
              </a:ext>
            </a:extLst>
          </p:cNvPr>
          <p:cNvSpPr txBox="1"/>
          <p:nvPr/>
        </p:nvSpPr>
        <p:spPr>
          <a:xfrm>
            <a:off x="0" y="2480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Декомпозована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2B8464-F420-6C01-8136-4EE82501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2" y="1016487"/>
            <a:ext cx="8104184" cy="538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0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EC10D-9B88-DD53-463F-3E3F22AE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271E056-9BFD-DFCD-89FA-1D804C80F2C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0848108" y="5671235"/>
            <a:ext cx="73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77F02-D7A1-2EE9-9DCA-3B055159F30A}"/>
              </a:ext>
            </a:extLst>
          </p:cNvPr>
          <p:cNvSpPr txBox="1"/>
          <p:nvPr/>
        </p:nvSpPr>
        <p:spPr>
          <a:xfrm>
            <a:off x="0" y="24804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Декомпозованиий</a:t>
            </a:r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 </a:t>
            </a:r>
          </a:p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«Управління фінансовими документами»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36462F-7B44-DE9F-53C1-B602667A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627" y="1325264"/>
            <a:ext cx="7828746" cy="53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50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34937-11F4-CF8B-21E0-366F36F3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90A8F684-B768-0A02-FD5F-ACA8EB950971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17E5F362-0BA8-4658-DAEF-E53A0B75AD4D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CB31BD-AC30-6478-897F-E2E214F7564F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81236E-85CC-FA3A-BCBF-CC858C4A357A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4C5837DA-951B-4C31-39DF-0F1165A8947A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CECBDAC3-DB94-67E2-7B27-9A3C0EEE5775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764D4B-D6C5-77C0-942C-F9F2260B75A7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9DA85D-21B6-9496-3BC6-514F3F3B169D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F4CBCE24-7F23-C217-6D0E-8C225EC0F993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0C052912-3557-DE52-544D-38C65B8191A9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30AF83-F56C-370C-20A7-097263C4EDAE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D20A9D-86B8-6B0F-6ACB-B8B1403A0ADB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B88EE841-9993-0B54-CC28-E462BACEFDD6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6139E566-AAED-EFF8-443B-5BCD70C7B2F4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0D72A8-28DD-C083-AEF9-119FE56476FA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254245-8867-1484-F6DE-046790292C8E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F2C2462-7152-417F-0221-5EBDB6ED103E}"/>
              </a:ext>
            </a:extLst>
          </p:cNvPr>
          <p:cNvSpPr txBox="1"/>
          <p:nvPr/>
        </p:nvSpPr>
        <p:spPr>
          <a:xfrm>
            <a:off x="2564617" y="1917291"/>
            <a:ext cx="9727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ході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виробничої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практики були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виконані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0515F-56CC-1CD5-9527-AC59FD20C0B1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1FAFCEB4-CB28-9522-A94E-3E1F376C1F26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A5A6FD67-DF02-F426-4F75-15013A8156DE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27D7F85C-7D9D-8E7C-D0E7-F8F07DBF571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850111-53FA-6AD8-2B1C-88CB85E8DE26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15F7F4-BD68-9A5A-F812-4055D589F835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64801F-5026-86D8-4CAA-029220FC20A0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9C248739-78FB-256E-CDEC-A4C1E6FBF98A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8FEDC86B-B7BC-5EEB-60AF-F27DA4CC4C24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3A5FD44E-1657-3710-614B-D463B8C16DAD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2FAAB1-7578-8C7A-F563-1AC418ABC848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A330A2-68EB-B97F-CCE7-68511DBE7561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B5F1275-F105-A3A9-F10F-8DB64CEB274C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386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1C7C6-6100-D959-2CD0-E04E1D51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B2CC7928-A3B8-62A9-C0C2-5061BDF870D9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B269DA09-3D5D-F838-3603-326A8445F150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94B2D4-43CE-EDC5-D911-27F9BA72885A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B0D7F4-FBA3-F80D-2F78-FE103ACC9F7F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B519D2B4-D3C0-F594-0EE7-F66DA7E71CEE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B2CDFA49-F3AD-7BD4-0081-5BC9230C84DE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0BCEF5-4717-8A31-7CF8-01DDDE35F2E7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93656F-6E16-D890-6349-96701A02622D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058AF69A-8668-21C6-F301-F8C3B63D172F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58BE079F-B330-8C72-CA78-56370D15357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8BF2CD-4A65-0415-0F97-4B9E812C11F7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C653EC-6440-F538-0141-A084C0644091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E92F55E1-185E-82E1-A2D4-35218A15596A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4EBB2926-1263-3303-6583-B3AC12C1513E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07D27B-15C0-E930-B0DD-6691ADB1BA79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42D395-A9E6-52D4-6091-2D13115C0D10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30DF6E-5C21-0BCB-1780-625DF043D7C4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FD1C6AA5-7EDA-04CD-2747-3CA07D36FA1D}"/>
              </a:ext>
            </a:extLst>
          </p:cNvPr>
          <p:cNvGrpSpPr/>
          <p:nvPr/>
        </p:nvGrpSpPr>
        <p:grpSpPr>
          <a:xfrm>
            <a:off x="0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42FEB7F1-4F17-EC25-D4B4-C95D23DB1779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3D0325ED-DE52-309D-9C2E-ACD058760F7F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6963D0D-81A9-F192-680D-64C45612F234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5352D-C700-BE59-456A-8C18615C02D3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CB69DD-18D0-2F56-F5D3-F7047A2F919C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69607850-FD83-500B-0752-2C1A4ECCF7D8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44BB2882-CDBA-C266-A8B1-6AB25CFEED4F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F263C797-6943-C7C7-9E12-9C3BFC09470D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83692-EEA0-0017-B2AD-E38C4D923593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86853C-ABF7-C538-A00F-A45A3DCD8208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92CCAD-0D6B-3342-BB97-8E3F37F977F3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51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B57E7-C194-561B-0806-297774F4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F946C1D1-F5E2-0411-B72A-0F6AEC0C2A32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83389102-07E4-1530-A174-E5712F1E33AA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18A6D4-608A-D6E5-1200-6A23F49C8B47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86E698-3B6D-78F2-CB1A-6B9D119EF2C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D3FB8DA4-FC64-55C6-2553-36614098EB6E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A1216B71-E6BC-4379-EC1E-3BE465F99E50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518506-F081-0455-9AFD-4FE9A38FC648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825D67-5DBC-19F4-DF54-0486ED3BE6D0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EDC46524-EA69-CBED-21C2-8619A86C5138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F2FB9EDC-137C-033B-BE93-6A849F72174A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EA76B6-614A-6C6F-A069-4D2D68EE2853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0FDAAF-426E-2ECA-5A2B-176C27A01BEA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2F0887E5-BA10-4AF5-BCD3-F451A3EF5E4C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534A82CE-D6D4-408C-91A9-E1E3A87394A6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A45370-8275-D5C6-E978-1AFC8C8405B5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8D42DDE-BAAE-2F0B-053A-E745E4928B43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46B245B-2EEB-D076-58D1-120519176976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59944E1E-0335-4642-04B3-4C46D8691CD6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E3B3CB9E-9A24-D68A-7414-E034D6E1DFF1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CA78C196-31A7-E646-1D27-165406B31A88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01B815-2F79-1118-A4B5-CD1D8DB5EBD0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9E5A26-6ABF-5F22-AFFF-FDB22F880055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D460DC2-8C44-D0CE-69C6-5F12BAF8D2CB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C83942F7-B277-2391-FCD5-DABA3443E0C0}"/>
              </a:ext>
            </a:extLst>
          </p:cNvPr>
          <p:cNvGrpSpPr/>
          <p:nvPr/>
        </p:nvGrpSpPr>
        <p:grpSpPr>
          <a:xfrm>
            <a:off x="0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07D75543-DD27-18FE-CCF3-EC5C72B1DEF9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3512181F-44EA-3387-776A-54B7FC74BD39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2B7988-67F0-2992-D0F3-CE777674BBF3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8D6238-F162-7A14-9CE9-735D064D8999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834868-4B31-A1FA-A2BD-AC3609902664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223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678B5-48F1-BCA2-2B3D-F9765394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2935A5B8-959E-B540-D66D-0876F41706A1}"/>
              </a:ext>
            </a:extLst>
          </p:cNvPr>
          <p:cNvGrpSpPr/>
          <p:nvPr/>
        </p:nvGrpSpPr>
        <p:grpSpPr>
          <a:xfrm>
            <a:off x="0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A5BE3105-075F-9CB9-519E-6282465AFC23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E19939-4374-8116-8409-CBAB0A52B8B1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596923-C401-4288-089C-A680E8C0D5B4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68E8BEC1-56C1-3D6D-42C0-F542808AB9A2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916302AC-51F4-6D72-31DA-3D493713D16F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7ABBB0-C566-DA30-5FD2-9B4D5ADB2786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24AAC1-3A12-5E13-0F99-AF6579608CAE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5F7BAF35-55E3-88BF-FBEF-297F3B329950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48F97352-0A5E-737B-C975-15AE7342B350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735D49-7243-48BF-C683-6DCBF0271DC9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CCAB44-FFB6-2294-A827-5327F1DE0378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DF6E24F1-48EE-465C-3230-E8D8B3CE60CC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2C9608CC-0BA8-1D0A-7518-12665B3CA9D0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EA1CB4-B6B4-57E7-C126-1A8197F249F4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D10D22-64DB-ACF5-B65A-5C7DE75BA152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AA6F4E6-772E-9605-EC93-1652DD70E4F5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921B30CF-ACC6-C3B1-5420-FF64E5D6FC6A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6518DE41-A66E-87B3-BF0D-D2F6E2C2E85B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8D363416-1158-FE04-EECD-6410C0333490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815B74-CEE4-080C-11ED-2B4A396E4B8A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794EA2-8416-60A4-3ABD-7E56D74A0E75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50784B-089C-76B3-3272-B1A91B5CD102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8FDF2EF5-E16A-01F5-94CB-D939EE392AAD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7555EDAC-48B0-7AD6-2BDB-9D51CD77F0EC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961C2002-C144-40A5-3FCA-E909C698DE12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14B8BF-55D8-A93C-8D8E-76E53C2EB81F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01DF7D-3F71-D84C-6C0C-285B05005D9A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A85F2B-6E38-1F57-DCA8-387CEB7AF1B2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40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B4825-82F5-E6D5-2E24-21873B8E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8F2E65F5-0902-A212-BA70-80E69C4C8FBB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91DF5096-56A6-4493-6FDD-AB01EA3B9235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97FE8D-AEF9-67AF-7355-648609859ED1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7B7389-5AF6-503A-AAE3-64BF2371310B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F856AD89-FE18-1B95-7824-67C00F7B23DB}"/>
              </a:ext>
            </a:extLst>
          </p:cNvPr>
          <p:cNvGrpSpPr/>
          <p:nvPr/>
        </p:nvGrpSpPr>
        <p:grpSpPr>
          <a:xfrm>
            <a:off x="0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A7587948-87DE-B9C4-D1C6-A7D19F706FEB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AA3A00-08F9-E90B-16D0-D54DC8B1CCB0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AADD11-C9E6-EB1F-3AD0-8054C6A030D8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E828BC15-7F0E-54F3-C45D-84064EEBFED6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9FC86A50-7636-EF9A-9629-A675DC0AA873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077D14-6B3C-E764-8577-1343AA249466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C25A25-1BFA-1A76-DE1B-A5E9CC9A64F3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DFC3FEF9-9DDD-BAF3-53C6-7B092B790F98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FDA423E2-01F1-6581-B40A-484FD3B33699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B89A50-202B-3CAF-DD4D-622BE603460C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97A7D7-3C79-0D36-9C46-18359CDC511B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CCA0655-8AFA-E544-61BF-B687A3E3D17D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F1A01D06-4722-C937-EF5E-983FEFA78292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12D0DB32-C7D1-7F5A-0C1E-317D2975E32B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8BA8DCCC-59B3-E41D-6B48-F9C8FFC569C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BEF9D8-88AA-A664-DD42-987FEDB1F315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F9247A-28D2-2427-4704-A34C03CFD1EB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DEF4EE-48EC-C139-9843-9D2F5AFBD4F5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C678BB15-029F-057D-4E7F-CD8A00624635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5FC60052-0477-5D72-CDB5-AF83C8CF2531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A5060E41-86E6-B77A-0135-65F9C1271C67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5D6AD1-7B22-3AA8-F244-F1908535A524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7821BE-054C-B419-E2A7-5A8D13877CC2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56C87E-AF91-6212-A957-927F0D94F0BA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1140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F5580-F859-9745-5ADD-8100383F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55E6AEE3-C885-6F51-257F-C47C7AB846E9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62120916-E163-4D7C-7F3B-00188180B6FD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F231B6-BB96-AF2E-9DF9-FF7277089E22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861135-07A4-209C-1ADB-F2F95BD9DEC6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F742EB0F-AC87-A256-1980-82C2ADC0D0A8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796565D8-C612-9E7C-9609-B70F15F719C7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DAFCB9-547D-E5DD-EB82-5F2345E70C89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D74D57-5546-40CD-D2A3-DE77C8C653C1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99C45020-CFF8-F7E6-991A-681B52BD6D63}"/>
              </a:ext>
            </a:extLst>
          </p:cNvPr>
          <p:cNvGrpSpPr/>
          <p:nvPr/>
        </p:nvGrpSpPr>
        <p:grpSpPr>
          <a:xfrm>
            <a:off x="0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8CEE07BB-6078-8E59-64F4-484FD06528A7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178D37-C88B-1FFA-B0C5-C2BC5D64F8FE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F8E9AA-74BF-3246-92D5-3DDB130CFC91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147A9C7D-5E5E-3CAD-E9C7-9243D74C30D5}"/>
              </a:ext>
            </a:extLst>
          </p:cNvPr>
          <p:cNvGrpSpPr/>
          <p:nvPr/>
        </p:nvGrpSpPr>
        <p:grpSpPr>
          <a:xfrm>
            <a:off x="-998957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3A00975E-D3C6-E8DA-90B9-5A3415AE31E0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967B59-5C9E-92EC-1A7E-3BDF8F80E1CE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4F00FF-29BE-391A-DC95-BB25E5C302C5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8C6FE24-5914-0AFB-8C6B-F8634CCEB3BD}"/>
              </a:ext>
            </a:extLst>
          </p:cNvPr>
          <p:cNvSpPr txBox="1"/>
          <p:nvPr/>
        </p:nvSpPr>
        <p:spPr>
          <a:xfrm>
            <a:off x="10986836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F5C116AA-345E-3BAD-0DA3-2FDA1AEDE28A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4CEE0CEC-3CBB-00D6-635C-35B3A70F0697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39539A34-BE92-473A-2168-910F7A7AB5A9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96BF11-8C72-9BB9-6D84-B1CE0CA2904E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3D0E2C-B885-6CFF-874C-FA3367D772B3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BFC867-4FD0-DDB8-E492-410AE7EFBA45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182CDD21-26D6-28EE-4D90-D34C16B8D3F3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1B303B20-5EBE-F8CE-F895-B913DEC31E76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F39EF2EE-19F1-7790-0726-346874C32EBA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F41019-FA72-DDBA-5F80-3E75A60ADC3E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DF7CA6-B660-DAC5-171E-1AF5E20CAB08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92325A9-8E3A-8C24-1215-92F0703D6746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601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96837-8121-6E26-0D5B-BF9C3C40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увати 23">
            <a:extLst>
              <a:ext uri="{FF2B5EF4-FFF2-40B4-BE49-F238E27FC236}">
                <a16:creationId xmlns:a16="http://schemas.microsoft.com/office/drawing/2014/main" id="{2ECDE286-F74F-F1C8-0C32-76F7096BD1E2}"/>
              </a:ext>
            </a:extLst>
          </p:cNvPr>
          <p:cNvGrpSpPr/>
          <p:nvPr/>
        </p:nvGrpSpPr>
        <p:grpSpPr>
          <a:xfrm>
            <a:off x="-9989575" y="2246242"/>
            <a:ext cx="12192000" cy="1346390"/>
            <a:chOff x="0" y="2246242"/>
            <a:chExt cx="12192000" cy="1346390"/>
          </a:xfrm>
        </p:grpSpPr>
        <p:sp>
          <p:nvSpPr>
            <p:cNvPr id="13" name="Прямокутник 12">
              <a:extLst>
                <a:ext uri="{FF2B5EF4-FFF2-40B4-BE49-F238E27FC236}">
                  <a16:creationId xmlns:a16="http://schemas.microsoft.com/office/drawing/2014/main" id="{28572A50-F7DF-9B99-2648-E0D8F192C196}"/>
                </a:ext>
              </a:extLst>
            </p:cNvPr>
            <p:cNvSpPr/>
            <p:nvPr/>
          </p:nvSpPr>
          <p:spPr>
            <a:xfrm>
              <a:off x="0" y="2246242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50C302-D2F8-39D4-FB78-2E4ABCFA00E5}"/>
                </a:ext>
              </a:extLst>
            </p:cNvPr>
            <p:cNvSpPr txBox="1"/>
            <p:nvPr/>
          </p:nvSpPr>
          <p:spPr>
            <a:xfrm>
              <a:off x="365504" y="2392303"/>
              <a:ext cx="95096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Виконано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функціональне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будівельними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роботами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організації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праці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68A4D1-D2AB-0BE3-CB69-6554387CC4DA}"/>
                </a:ext>
              </a:extLst>
            </p:cNvPr>
            <p:cNvSpPr txBox="1"/>
            <p:nvPr/>
          </p:nvSpPr>
          <p:spPr>
            <a:xfrm>
              <a:off x="10237304" y="229997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86EC049F-BC14-3E90-25BF-3140A0169086}"/>
              </a:ext>
            </a:extLst>
          </p:cNvPr>
          <p:cNvGrpSpPr/>
          <p:nvPr/>
        </p:nvGrpSpPr>
        <p:grpSpPr>
          <a:xfrm>
            <a:off x="-9989575" y="3369363"/>
            <a:ext cx="12192000" cy="1346391"/>
            <a:chOff x="0" y="3369363"/>
            <a:chExt cx="12192000" cy="1346391"/>
          </a:xfrm>
        </p:grpSpPr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C1D4AF13-03CA-4690-0D6E-CD622A2A2349}"/>
                </a:ext>
              </a:extLst>
            </p:cNvPr>
            <p:cNvSpPr/>
            <p:nvPr/>
          </p:nvSpPr>
          <p:spPr>
            <a:xfrm>
              <a:off x="0" y="3369363"/>
              <a:ext cx="12192000" cy="11231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2D3AB5-BA6C-DA66-D9A8-CFB986EF179C}"/>
                </a:ext>
              </a:extLst>
            </p:cNvPr>
            <p:cNvSpPr txBox="1"/>
            <p:nvPr/>
          </p:nvSpPr>
          <p:spPr>
            <a:xfrm>
              <a:off x="365504" y="3515425"/>
              <a:ext cx="96240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Розроблено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концепцію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персоналом, документами та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процесами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endPara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801DCE-EDA3-333D-BFF2-C35771ADF073}"/>
                </a:ext>
              </a:extLst>
            </p:cNvPr>
            <p:cNvSpPr txBox="1"/>
            <p:nvPr/>
          </p:nvSpPr>
          <p:spPr>
            <a:xfrm>
              <a:off x="10237304" y="3429000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3820C968-80A2-C560-E737-26DD3CF369F1}"/>
              </a:ext>
            </a:extLst>
          </p:cNvPr>
          <p:cNvGrpSpPr/>
          <p:nvPr/>
        </p:nvGrpSpPr>
        <p:grpSpPr>
          <a:xfrm>
            <a:off x="-9989575" y="4492484"/>
            <a:ext cx="12192000" cy="1123121"/>
            <a:chOff x="0" y="4492484"/>
            <a:chExt cx="12192000" cy="1123121"/>
          </a:xfrm>
        </p:grpSpPr>
        <p:sp>
          <p:nvSpPr>
            <p:cNvPr id="15" name="Прямокутник 14">
              <a:extLst>
                <a:ext uri="{FF2B5EF4-FFF2-40B4-BE49-F238E27FC236}">
                  <a16:creationId xmlns:a16="http://schemas.microsoft.com/office/drawing/2014/main" id="{C41864A3-09E5-0C60-B3AB-DD3D17B8D9F5}"/>
                </a:ext>
              </a:extLst>
            </p:cNvPr>
            <p:cNvSpPr/>
            <p:nvPr/>
          </p:nvSpPr>
          <p:spPr>
            <a:xfrm>
              <a:off x="0" y="4492484"/>
              <a:ext cx="12192000" cy="11231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84BDCC-B0E2-F6BF-7CA1-BCA785AAA32D}"/>
                </a:ext>
              </a:extLst>
            </p:cNvPr>
            <p:cNvSpPr txBox="1"/>
            <p:nvPr/>
          </p:nvSpPr>
          <p:spPr>
            <a:xfrm>
              <a:off x="365504" y="4780341"/>
              <a:ext cx="102539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Визначено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основні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функціональні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вимоги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до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роботи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веб–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додатку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7194B0-035A-5A55-5D3B-CEB8EDEF3014}"/>
                </a:ext>
              </a:extLst>
            </p:cNvPr>
            <p:cNvSpPr txBox="1"/>
            <p:nvPr/>
          </p:nvSpPr>
          <p:spPr>
            <a:xfrm>
              <a:off x="10331139" y="4541027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CBD13F6C-5B1E-D437-573C-0D66AD2B923E}"/>
              </a:ext>
            </a:extLst>
          </p:cNvPr>
          <p:cNvGrpSpPr/>
          <p:nvPr/>
        </p:nvGrpSpPr>
        <p:grpSpPr>
          <a:xfrm>
            <a:off x="78985" y="5615605"/>
            <a:ext cx="12192000" cy="1242395"/>
            <a:chOff x="0" y="5615605"/>
            <a:chExt cx="12192000" cy="1242395"/>
          </a:xfrm>
        </p:grpSpPr>
        <p:sp>
          <p:nvSpPr>
            <p:cNvPr id="16" name="Прямокутник 15">
              <a:extLst>
                <a:ext uri="{FF2B5EF4-FFF2-40B4-BE49-F238E27FC236}">
                  <a16:creationId xmlns:a16="http://schemas.microsoft.com/office/drawing/2014/main" id="{8E4A8833-BCCB-0000-E820-41F16E99A969}"/>
                </a:ext>
              </a:extLst>
            </p:cNvPr>
            <p:cNvSpPr/>
            <p:nvPr/>
          </p:nvSpPr>
          <p:spPr>
            <a:xfrm>
              <a:off x="0" y="5615605"/>
              <a:ext cx="12192000" cy="12423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08B817-AD23-668F-D71D-3E129009F018}"/>
                </a:ext>
              </a:extLst>
            </p:cNvPr>
            <p:cNvSpPr txBox="1"/>
            <p:nvPr/>
          </p:nvSpPr>
          <p:spPr>
            <a:xfrm>
              <a:off x="365504" y="5761666"/>
              <a:ext cx="101422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моделювання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бізнес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нотації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IDEF0 та DFD для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структурованого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відображення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потоків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інформації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у межах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9E6B7D-18A0-8897-2192-60828F5E20ED}"/>
                </a:ext>
              </a:extLst>
            </p:cNvPr>
            <p:cNvSpPr txBox="1"/>
            <p:nvPr/>
          </p:nvSpPr>
          <p:spPr>
            <a:xfrm>
              <a:off x="10331139" y="5733041"/>
              <a:ext cx="11164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6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B273AB0-1EDD-4994-065C-6170ED07FF1E}"/>
              </a:ext>
            </a:extLst>
          </p:cNvPr>
          <p:cNvSpPr txBox="1"/>
          <p:nvPr/>
        </p:nvSpPr>
        <p:spPr>
          <a:xfrm>
            <a:off x="11249415" y="5853998"/>
            <a:ext cx="86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uk-UA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D3272924-677B-FD9E-B7F9-E5FBC0B4851D}"/>
              </a:ext>
            </a:extLst>
          </p:cNvPr>
          <p:cNvGrpSpPr/>
          <p:nvPr/>
        </p:nvGrpSpPr>
        <p:grpSpPr>
          <a:xfrm>
            <a:off x="-9989575" y="0"/>
            <a:ext cx="12192000" cy="1123121"/>
            <a:chOff x="-9989575" y="0"/>
            <a:chExt cx="12192000" cy="1123121"/>
          </a:xfrm>
        </p:grpSpPr>
        <p:grpSp>
          <p:nvGrpSpPr>
            <p:cNvPr id="22" name="Групувати 21">
              <a:extLst>
                <a:ext uri="{FF2B5EF4-FFF2-40B4-BE49-F238E27FC236}">
                  <a16:creationId xmlns:a16="http://schemas.microsoft.com/office/drawing/2014/main" id="{64C28096-A900-E810-5C8A-E24D80B8E00F}"/>
                </a:ext>
              </a:extLst>
            </p:cNvPr>
            <p:cNvGrpSpPr/>
            <p:nvPr/>
          </p:nvGrpSpPr>
          <p:grpSpPr>
            <a:xfrm>
              <a:off x="-9989575" y="0"/>
              <a:ext cx="12192000" cy="1123121"/>
              <a:chOff x="0" y="0"/>
              <a:chExt cx="12192000" cy="1123121"/>
            </a:xfrm>
          </p:grpSpPr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D4A4A56A-DE0E-5E6F-D623-40BF4C11D04F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1123121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6D3215-AD77-3367-386E-04E057F31204}"/>
                  </a:ext>
                </a:extLst>
              </p:cNvPr>
              <p:cNvSpPr txBox="1"/>
              <p:nvPr/>
            </p:nvSpPr>
            <p:spPr>
              <a:xfrm>
                <a:off x="365504" y="142358"/>
                <a:ext cx="9965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E4EA8A-9413-1530-5E44-DEFF05F72BCC}"/>
                  </a:ext>
                </a:extLst>
              </p:cNvPr>
              <p:cNvSpPr txBox="1"/>
              <p:nvPr/>
            </p:nvSpPr>
            <p:spPr>
              <a:xfrm>
                <a:off x="10237304" y="90677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E0CF57-30E4-A6DB-23BF-F6C695BB9860}"/>
                </a:ext>
              </a:extLst>
            </p:cNvPr>
            <p:cNvSpPr txBox="1"/>
            <p:nvPr/>
          </p:nvSpPr>
          <p:spPr>
            <a:xfrm>
              <a:off x="-9624071" y="196087"/>
              <a:ext cx="112522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Проведено аналіз діяльності ТОВ «БК СЕРВІСРЕМБУД» визначено</a:t>
              </a:r>
            </a:p>
            <a:p>
              <a:r>
                <a: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його структуру, функціональні напрями та ключові бізнес–процеси.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F6A5BE5B-5B13-27A2-B69B-0F01D482F23F}"/>
              </a:ext>
            </a:extLst>
          </p:cNvPr>
          <p:cNvGrpSpPr/>
          <p:nvPr/>
        </p:nvGrpSpPr>
        <p:grpSpPr>
          <a:xfrm>
            <a:off x="-9989575" y="1123121"/>
            <a:ext cx="12192000" cy="1123121"/>
            <a:chOff x="-9989575" y="1123121"/>
            <a:chExt cx="12192000" cy="1123121"/>
          </a:xfrm>
        </p:grpSpPr>
        <p:grpSp>
          <p:nvGrpSpPr>
            <p:cNvPr id="23" name="Групувати 22">
              <a:extLst>
                <a:ext uri="{FF2B5EF4-FFF2-40B4-BE49-F238E27FC236}">
                  <a16:creationId xmlns:a16="http://schemas.microsoft.com/office/drawing/2014/main" id="{3AD71156-83CE-DFE7-AF0A-7563F60B1C70}"/>
                </a:ext>
              </a:extLst>
            </p:cNvPr>
            <p:cNvGrpSpPr/>
            <p:nvPr/>
          </p:nvGrpSpPr>
          <p:grpSpPr>
            <a:xfrm>
              <a:off x="-9989575" y="1123121"/>
              <a:ext cx="12192000" cy="1123121"/>
              <a:chOff x="0" y="1123121"/>
              <a:chExt cx="12192000" cy="1123121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36F95FEC-CCE0-4428-22DC-DE980F9C01A3}"/>
                  </a:ext>
                </a:extLst>
              </p:cNvPr>
              <p:cNvSpPr/>
              <p:nvPr/>
            </p:nvSpPr>
            <p:spPr>
              <a:xfrm>
                <a:off x="0" y="1123121"/>
                <a:ext cx="12192000" cy="11231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EEEAE1-6CAA-D999-3C3C-913743EAE500}"/>
                  </a:ext>
                </a:extLst>
              </p:cNvPr>
              <p:cNvSpPr txBox="1"/>
              <p:nvPr/>
            </p:nvSpPr>
            <p:spPr>
              <a:xfrm>
                <a:off x="365504" y="1265479"/>
                <a:ext cx="9777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uk-UA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035F16-771C-4D79-5AEB-8A19592EADCC}"/>
                  </a:ext>
                </a:extLst>
              </p:cNvPr>
              <p:cNvSpPr txBox="1"/>
              <p:nvPr/>
            </p:nvSpPr>
            <p:spPr>
              <a:xfrm>
                <a:off x="10237304" y="1176850"/>
                <a:ext cx="1116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6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4425BA-F9D1-1091-3C4B-106675B6BEE8}"/>
                </a:ext>
              </a:extLst>
            </p:cNvPr>
            <p:cNvSpPr txBox="1"/>
            <p:nvPr/>
          </p:nvSpPr>
          <p:spPr>
            <a:xfrm>
              <a:off x="-9624071" y="1463791"/>
              <a:ext cx="11252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Досліджено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існуючі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засоби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автоматизації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управління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компанією</a:t>
              </a:r>
              <a:r>
                <a:rPr lang="ru-RU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758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B3CC-3786-6305-3EAB-1A7085E6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рНУ ім.Остроградського">
            <a:extLst>
              <a:ext uri="{FF2B5EF4-FFF2-40B4-BE49-F238E27FC236}">
                <a16:creationId xmlns:a16="http://schemas.microsoft.com/office/drawing/2014/main" id="{D7E3BFE2-D037-7FD7-2425-BEB251D42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3267" y="0"/>
            <a:ext cx="146385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51316090-A327-B6D6-405B-D2B3B6987423}"/>
              </a:ext>
            </a:extLst>
          </p:cNvPr>
          <p:cNvSpPr/>
          <p:nvPr/>
        </p:nvSpPr>
        <p:spPr>
          <a:xfrm>
            <a:off x="-1226128" y="0"/>
            <a:ext cx="14638531" cy="6858000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F5723-5366-C8DA-D5AB-059C59B18C4C}"/>
              </a:ext>
            </a:extLst>
          </p:cNvPr>
          <p:cNvSpPr txBox="1"/>
          <p:nvPr/>
        </p:nvSpPr>
        <p:spPr>
          <a:xfrm>
            <a:off x="-1190890" y="517814"/>
            <a:ext cx="14603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КРЕМЕНЧУЦЬКИЙ НАЦІОНАЛЬНИЙ УНІВЕРСИТЕТ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 МИХАЙЛА ОСТРОГРАДСЬКОГО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АВТОМАТИЗАЦІЇ ТА ІНФОРМАЦІЙНИХ СИСТЕМ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0A140D-1154-624C-80FA-2AC8499A03C6}"/>
              </a:ext>
            </a:extLst>
          </p:cNvPr>
          <p:cNvSpPr txBox="1"/>
          <p:nvPr/>
        </p:nvSpPr>
        <p:spPr>
          <a:xfrm>
            <a:off x="-1190890" y="1995142"/>
            <a:ext cx="14647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увагу!!!</a:t>
            </a:r>
          </a:p>
          <a:p>
            <a:pPr algn="ctr"/>
            <a:endParaRPr lang="uk-UA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651CE-A2F2-CF72-7EE6-9F7DA3E362F8}"/>
              </a:ext>
            </a:extLst>
          </p:cNvPr>
          <p:cNvSpPr txBox="1"/>
          <p:nvPr/>
        </p:nvSpPr>
        <p:spPr>
          <a:xfrm>
            <a:off x="1471480" y="2992744"/>
            <a:ext cx="9322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</a:t>
            </a:r>
            <a:r>
              <a:rPr lang="uk-UA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івельної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фірми</a:t>
            </a:r>
            <a:endParaRPr lang="uk-UA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DF8D52-991C-B9DA-EBC4-8A1063802716}"/>
              </a:ext>
            </a:extLst>
          </p:cNvPr>
          <p:cNvSpPr txBox="1"/>
          <p:nvPr/>
        </p:nvSpPr>
        <p:spPr>
          <a:xfrm>
            <a:off x="7043677" y="4909983"/>
            <a:ext cx="46530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 студент групи КН-22-2 </a:t>
            </a:r>
            <a:r>
              <a:rPr lang="uk-UA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Панцюк</a:t>
            </a:r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К.В.</a:t>
            </a:r>
          </a:p>
          <a:p>
            <a:pPr algn="r"/>
            <a:r>
              <a:rPr lang="uk-UA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 практики: Шевченко І. В.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1DA2DED-B8C4-6513-1847-4B7322462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829" y="351209"/>
            <a:ext cx="1276134" cy="1281961"/>
          </a:xfrm>
          <a:prstGeom prst="ellipse">
            <a:avLst/>
          </a:prstGeom>
          <a:ln w="762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996462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2098</Words>
  <Application>Microsoft Office PowerPoint</Application>
  <PresentationFormat>Широкий екран</PresentationFormat>
  <Paragraphs>363</Paragraphs>
  <Slides>32</Slides>
  <Notes>21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12</cp:revision>
  <dcterms:created xsi:type="dcterms:W3CDTF">2025-05-31T09:51:51Z</dcterms:created>
  <dcterms:modified xsi:type="dcterms:W3CDTF">2025-06-03T13:29:32Z</dcterms:modified>
</cp:coreProperties>
</file>