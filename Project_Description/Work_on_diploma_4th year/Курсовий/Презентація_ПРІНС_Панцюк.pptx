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8" r:id="rId3"/>
    <p:sldId id="294" r:id="rId4"/>
    <p:sldId id="295" r:id="rId5"/>
    <p:sldId id="302" r:id="rId6"/>
    <p:sldId id="292" r:id="rId7"/>
    <p:sldId id="287" r:id="rId8"/>
    <p:sldId id="303" r:id="rId9"/>
    <p:sldId id="304" r:id="rId10"/>
    <p:sldId id="305" r:id="rId11"/>
    <p:sldId id="281" r:id="rId12"/>
  </p:sldIdLst>
  <p:sldSz cx="9144000" cy="6858000" type="screen4x3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B6"/>
    <a:srgbClr val="97000B"/>
    <a:srgbClr val="29364B"/>
    <a:srgbClr val="481419"/>
    <a:srgbClr val="006CFF"/>
    <a:srgbClr val="F9D600"/>
    <a:srgbClr val="324057"/>
    <a:srgbClr val="007CCE"/>
    <a:srgbClr val="2A1255"/>
    <a:srgbClr val="A58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5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7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DD1C9-4BB6-422A-8F34-C157EA500BD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997E4-EE34-411C-9FF1-22B934EF5337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1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C47FA-81A0-4439-BAAB-8035D0CE7A1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922CA-F5FE-4CA4-9F5C-CA616766AC0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3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43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28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46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46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E42C-5208-408C-B0F8-66AA58D3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724A410-9C40-4C79-D4D4-06664E2D6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B9C18A-19AC-D856-0467-74EEF71C3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99A6E2-375C-4F06-D186-66EF4E548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591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B16D-B761-DD0E-5DF7-9EF9A0420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64BD6A7-1BE2-17C4-022C-A4DB9C844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E792F9-B40A-BF75-8FAB-DE80188AD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055546-D66C-E892-2D38-8573F9D37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072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45BE-CE67-5B43-7165-8AAF11FB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88090A-7D0A-0F72-A16C-32944FA3C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2B51DA-4934-9653-AB6B-926370691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4C9E98-91F5-0777-A90B-E638839C5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922CA-F5FE-4CA4-9F5C-CA616766AC0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812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E7B90-BBBD-D903-0AD5-BF8A14E7D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2D1A81C-C08B-6703-8F45-39A46DB3A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B9FB1B-EC3B-5A2C-EF05-97362E4C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65EA2D6-840A-2BDD-F180-118AF5AA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9D8AA13-8D8F-507D-D7E6-B75AA34B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9408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8FD9A-4F07-8966-62E4-042372F1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6BCFAE7-5F0E-D364-6F2A-214A85FB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4A2EA25-C803-3BEA-AE82-93C374E9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D53778A-CF5F-5D57-B116-2D95509A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F242B84-8E07-2617-576B-687B9BE3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9587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3E08E-A8F3-ACCC-F9AA-D18E49E3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69A01AC-D612-3B3B-04D7-2627AB93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B054DE3-BD36-7CAD-1C37-B73D9B65D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EAA7B63-E0A5-CE26-CB92-9C9FB982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D2E8AA-B372-76C2-96EC-7EF6538C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1975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841D4-73BF-0DAB-B851-040B8E08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3C3924-ED56-E332-310F-0A0144B40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10CB1F-B61D-B783-C1DA-E35A5A3D9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EDB4B41-279A-9556-69D7-5336C9A5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BF6D2D4-C13D-55C0-3982-AB44F3B7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09C15E0-1D4D-8460-F19D-39EBD05E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331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F2425-9DCE-8E7C-5502-55C3FE6F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D8095CC-8C68-104D-D9B7-3C949ACB8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805F352-4F1E-E932-37DC-5A00B8E8A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004A3F3-D476-965A-A939-4D2D33D19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8F4B4AF-B29E-BBFD-2A63-C85ABCA81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DE8F919-D40F-327D-38E6-AB82C6FA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D0AD6300-8989-1E75-23DD-81C4C8C2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4C12ADA-FDE3-3669-AF28-A09055FE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851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E633B-4F79-DE0F-DB43-CCCD6554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761960F-49AC-7C04-1507-47407453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32492B1-C7A4-2909-58FA-A2D4E07F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394AC06-1C2D-684A-8659-3E296E2F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52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CE6F1B4-80B6-7A46-5580-996A989F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64CECA1-E527-2F7F-56A1-CF75A863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AE27E74-C6DB-E50F-7449-56EEA213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2469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8C072-7B2C-DFEE-E982-6A3DAEEE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E798F4-01FD-3C12-9F9A-139EA6C6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0AD725B-F8C7-45CF-3ED8-7CA82F260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8AA64AA-5C68-B006-DA93-34CB3A55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1135F29-01DD-BEFE-39A2-EC8B5E1E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FB6D2B7-FFA5-FC30-5885-1B24402E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118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E58C0-FF21-BD33-8F63-E90395C1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74AABC3C-0D76-170A-CC17-E1677C48E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0DC05FB-828E-7A25-EEEC-32C8889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6D01E17-702A-543D-FFE9-507179D2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922BAFB-8BBA-93AC-BDC1-60D1BA70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10B8F3B-EC77-F40C-4867-F3AE5A98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2139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19417-86AE-E6E9-1D38-B3F2E0D2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6983661-AFB6-D880-F79D-D33AA5748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BE3E2E1-0B2D-FBD3-1513-E8617D44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5BCD0FF-EF26-DC55-14DC-BAFFCAA4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158B4FC-8C1D-6168-080B-64D7FE01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91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A032D1F-AEDB-8E44-E9E3-765DCC4C8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D7B3BBF-DA3A-2E0E-9B5F-3B567AD41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FE4197-C73C-0B8E-FC06-2851E27A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B389A8F-DCEB-D02D-F8E6-B5F99818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A2172C-73A9-6C14-3F68-46022F21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9422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D09C347-FB29-3608-C410-23DE28FDF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91CBABA-CBEF-9879-B318-4C9E9FB69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CC62DE7-4E02-98CA-05C6-25EB006CC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B3982-C7B8-4C06-B243-3CC1BACD07E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DF3E3A-EC6D-D491-3ED9-41BD86E68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940E385-99C8-B6D8-2FC1-F9690F459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‹№›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900545-D715-6BB2-6F79-E04D0C241D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5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package" Target="../embeddings/Microsoft_Visio_Drawing4.vsdx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5.vsd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97889" y="311499"/>
            <a:ext cx="8148222" cy="727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000" b="1" dirty="0">
                <a:solidFill>
                  <a:srgbClr val="000000"/>
                </a:solidFill>
                <a:latin typeface="Times New Roman" pitchFamily="16" charset="0"/>
                <a:ea typeface="Microsoft YaHei" charset="-122"/>
              </a:rPr>
              <a:t>КРЕМЕНЧУЦЬКИЙ НАЦІОНАЛЬНИЙ УНІВЕРСИТЕТ</a:t>
            </a:r>
          </a:p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000" b="1" dirty="0">
                <a:solidFill>
                  <a:srgbClr val="000000"/>
                </a:solidFill>
                <a:latin typeface="Times New Roman" pitchFamily="16" charset="0"/>
                <a:ea typeface="Microsoft YaHei" charset="-122"/>
              </a:rPr>
              <a:t>ІМЕНІ МИХАЙЛА ОСТРОГРАДСЬКОГО</a:t>
            </a:r>
            <a:endParaRPr lang="en-US" sz="20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33295" y="1260963"/>
            <a:ext cx="7877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dirty="0">
                <a:latin typeface="Times New Roman" pitchFamily="16" charset="0"/>
                <a:cs typeface="Times New Roman" pitchFamily="16" charset="0"/>
              </a:rPr>
              <a:t>Кафедра автоматизації та інформаційних систем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2791579"/>
            <a:ext cx="9143999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3200" b="1" dirty="0" err="1">
                <a:latin typeface="Times New Roman" pitchFamily="18" charset="0"/>
                <a:cs typeface="Times New Roman" pitchFamily="18" charset="0"/>
              </a:rPr>
              <a:t>Тема:Проєктування</a:t>
            </a: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вебзастосунку</a:t>
            </a: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планування етапів будівництва одноповерхових будинків</a:t>
            </a:r>
            <a:endParaRPr lang="uk-UA" altLang="uk-UA" sz="32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316636" y="4725237"/>
            <a:ext cx="53294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b="1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Студент: </a:t>
            </a:r>
            <a:r>
              <a:rPr lang="uk-UA" altLang="uk-UA" dirty="0" err="1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Панцюк</a:t>
            </a:r>
            <a:r>
              <a:rPr lang="uk-UA" altLang="uk-UA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 Кирило Віталійович</a:t>
            </a:r>
          </a:p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uk-UA" altLang="uk-UA" dirty="0">
              <a:solidFill>
                <a:srgbClr val="000000"/>
              </a:solidFill>
              <a:latin typeface="Times New Roman" pitchFamily="16" charset="0"/>
              <a:cs typeface="Times New Roman" pitchFamily="16" charset="0"/>
            </a:endParaRPr>
          </a:p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b="1" dirty="0">
                <a:solidFill>
                  <a:srgbClr val="000000"/>
                </a:solidFill>
                <a:latin typeface="Times New Roman" pitchFamily="16" charset="0"/>
                <a:cs typeface="Times New Roman" pitchFamily="16" charset="0"/>
              </a:rPr>
              <a:t>Науковий керівник: </a:t>
            </a:r>
            <a:r>
              <a:rPr lang="uk-UA" dirty="0">
                <a:latin typeface="Times New Roman" pitchFamily="18" charset="0"/>
                <a:cs typeface="Times New Roman" pitchFamily="18" charset="0"/>
              </a:rPr>
              <a:t>Істоміна Наталія Миколаївна</a:t>
            </a: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676563" y="6189696"/>
            <a:ext cx="179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dirty="0">
                <a:latin typeface="Times New Roman" pitchFamily="16" charset="0"/>
                <a:cs typeface="Times New Roman" pitchFamily="16" charset="0"/>
              </a:rPr>
              <a:t>Кременчук 2025</a:t>
            </a:r>
          </a:p>
        </p:txBody>
      </p:sp>
    </p:spTree>
    <p:extLst>
      <p:ext uri="{BB962C8B-B14F-4D97-AF65-F5344CB8AC3E}">
        <p14:creationId xmlns:p14="http://schemas.microsoft.com/office/powerpoint/2010/main" val="2480652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091" y="231325"/>
            <a:ext cx="8331200" cy="714072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4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  <a:t>Актуальність роботи. </a:t>
            </a:r>
            <a:br>
              <a:rPr lang="uk-UA" altLang="uk-UA" sz="24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</a:br>
            <a:r>
              <a:rPr lang="uk-UA" altLang="uk-UA" sz="24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  <a:t>Мета та основні задачі проєктування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3683" y="945397"/>
            <a:ext cx="8331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/>
            <a:r>
              <a:rPr lang="uk-UA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роботи</a:t>
            </a:r>
            <a:r>
              <a:rPr lang="uk-UA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uk-UA" sz="1600">
                <a:latin typeface="Times New Roman" panose="02020603050405020304" pitchFamily="18" charset="0"/>
                <a:cs typeface="Times New Roman" panose="02020603050405020304" pitchFamily="18" charset="0"/>
              </a:rPr>
              <a:t>еобхідність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переходу від застарілих методів планування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Excel,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паперові носії) до цифрових інструментів для мінімізації помилок у графіках робіт, уникнення простоїв та забезпечення прозорості використання ресурсів на всіх етапах будівництва.</a:t>
            </a:r>
          </a:p>
          <a:p>
            <a:pPr indent="360000" algn="just"/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60000"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підвищення ефективності управління будівельними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проєктами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шляхом автоматизації процесів календарного планування, моніторингу виконання робіт та централізації звітної документації  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60000" algn="just"/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60000" algn="just"/>
            <a:r>
              <a:rPr lang="uk-UA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задачі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проаналізувати предметну область процесів планування та контролю будівництва одноповерхових житлових будинків;</a:t>
            </a: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визначити недоліки існуючих методів управління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Excel,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паперові носії) та обґрунтувати актуальність автоматизації;</a:t>
            </a: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сформулювати мету, вимоги та функціональні можливості майбутнього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вебзастосунку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визначити ролі користувачів та описати їхні основні сценарії взаємодії із системою;</a:t>
            </a: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обрати методи та інструменти моделювання, обґрунтувавши використання нотації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UML;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комплекс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діаграм;</a:t>
            </a: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описати об’єкт автоматизації та його роль у структурі майбутнього застосунку;</a:t>
            </a:r>
          </a:p>
          <a:p>
            <a:pPr marL="285750" lvl="0" indent="-285750" algn="just">
              <a:buFontTx/>
              <a:buChar char="-"/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сформувати висновки за результатами моделювання та оцінити, яку додаткову інформацію про роботу системи вдалося отримати.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1682"/>
          </a:xfrm>
        </p:spPr>
        <p:txBody>
          <a:bodyPr>
            <a:noAutofit/>
          </a:bodyPr>
          <a:lstStyle/>
          <a:p>
            <a:pPr algn="ctr"/>
            <a:r>
              <a:rPr lang="uk-UA" altLang="uk-UA" sz="2400" b="1" dirty="0">
                <a:solidFill>
                  <a:srgbClr val="000000"/>
                </a:solidFill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прецедентів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1713C2B8-9115-46CE-8DF8-522EA294A894}"/>
              </a:ext>
            </a:extLst>
          </p:cNvPr>
          <p:cNvSpPr txBox="1">
            <a:spLocks/>
          </p:cNvSpPr>
          <p:nvPr/>
        </p:nvSpPr>
        <p:spPr>
          <a:xfrm>
            <a:off x="8415579" y="231325"/>
            <a:ext cx="573438" cy="555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D167658-1BBC-4E0A-A8DF-07848BC5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" y="12293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6A8C2-F721-308D-ABDE-4BFB90A4F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616" y="174482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graphicFrame>
        <p:nvGraphicFramePr>
          <p:cNvPr id="4" name="Об'єкт 3">
            <a:extLst>
              <a:ext uri="{FF2B5EF4-FFF2-40B4-BE49-F238E27FC236}">
                <a16:creationId xmlns:a16="http://schemas.microsoft.com/office/drawing/2014/main" id="{2C83400A-97D7-5396-DEF8-13A0CF618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837260"/>
              </p:ext>
            </p:extLst>
          </p:nvPr>
        </p:nvGraphicFramePr>
        <p:xfrm>
          <a:off x="1558211" y="1079633"/>
          <a:ext cx="5645021" cy="5190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627372" imgH="7017759" progId="Visio.Drawing.15">
                  <p:embed/>
                </p:oleObj>
              </mc:Choice>
              <mc:Fallback>
                <p:oleObj name="Visio" r:id="rId2" imgW="7627372" imgH="7017759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211" y="1079633"/>
                        <a:ext cx="5645021" cy="51907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324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431"/>
          </a:xfrm>
        </p:spPr>
        <p:txBody>
          <a:bodyPr>
            <a:noAutofit/>
          </a:bodyPr>
          <a:lstStyle/>
          <a:p>
            <a:pPr algn="ctr"/>
            <a:r>
              <a:rPr lang="uk-UA" altLang="uk-UA" sz="2400" b="1" dirty="0">
                <a:solidFill>
                  <a:srgbClr val="000000"/>
                </a:solidFill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класів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84920547-B698-4503-9AEF-B11F26C7CCEA}"/>
              </a:ext>
            </a:extLst>
          </p:cNvPr>
          <p:cNvSpPr txBox="1">
            <a:spLocks/>
          </p:cNvSpPr>
          <p:nvPr/>
        </p:nvSpPr>
        <p:spPr>
          <a:xfrm>
            <a:off x="8415579" y="231325"/>
            <a:ext cx="573438" cy="555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7E6C7C-AF71-8C32-573F-69CAA3A0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35" y="830533"/>
            <a:ext cx="7284244" cy="56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6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929" y="231324"/>
            <a:ext cx="7671661" cy="407583"/>
          </a:xfrm>
        </p:spPr>
        <p:txBody>
          <a:bodyPr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400" b="1" dirty="0">
                <a:solidFill>
                  <a:srgbClr val="000000"/>
                </a:solidFill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комунікації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569FDF2-AD56-46A8-A09F-AFE1C51F36E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72287" y="143324"/>
            <a:ext cx="791444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52023A-ACE9-4DC5-921F-357A7EFE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287" y="19874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graphicFrame>
        <p:nvGraphicFramePr>
          <p:cNvPr id="6" name="Об'єкт 5">
            <a:extLst>
              <a:ext uri="{FF2B5EF4-FFF2-40B4-BE49-F238E27FC236}">
                <a16:creationId xmlns:a16="http://schemas.microsoft.com/office/drawing/2014/main" id="{673F37EC-C177-240E-5A07-DD51EB594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353675"/>
              </p:ext>
            </p:extLst>
          </p:nvPr>
        </p:nvGraphicFramePr>
        <p:xfrm>
          <a:off x="1673707" y="1368553"/>
          <a:ext cx="5199426" cy="3758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779630" imgH="5631093" progId="Visio.Drawing.15">
                  <p:embed/>
                </p:oleObj>
              </mc:Choice>
              <mc:Fallback>
                <p:oleObj name="Visio" r:id="rId3" imgW="7779630" imgH="5631093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707" y="1368553"/>
                        <a:ext cx="5199426" cy="37589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865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A49044-24F0-21A2-7602-077A9569A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0" y="0"/>
            <a:ext cx="7970557" cy="68580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11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8162" y="89869"/>
            <a:ext cx="7547676" cy="714072"/>
          </a:xfrm>
        </p:spPr>
        <p:txBody>
          <a:bodyPr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2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станів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6BC2A0-2434-400A-8F6F-D5B962C1B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graphicFrame>
        <p:nvGraphicFramePr>
          <p:cNvPr id="4" name="Об'єкт 3">
            <a:extLst>
              <a:ext uri="{FF2B5EF4-FFF2-40B4-BE49-F238E27FC236}">
                <a16:creationId xmlns:a16="http://schemas.microsoft.com/office/drawing/2014/main" id="{16711B57-7A44-AC1D-1C0A-FEBC479BF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165370"/>
              </p:ext>
            </p:extLst>
          </p:nvPr>
        </p:nvGraphicFramePr>
        <p:xfrm>
          <a:off x="3757812" y="893809"/>
          <a:ext cx="1628376" cy="5623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58498" imgH="15064432" progId="Visio.Drawing.15">
                  <p:embed/>
                </p:oleObj>
              </mc:Choice>
              <mc:Fallback>
                <p:oleObj name="Visio" r:id="rId3" imgW="4358498" imgH="15064432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812" y="893809"/>
                        <a:ext cx="1628376" cy="56233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895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6AF97A-5A4D-F8C8-012C-BD537A31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57B78-4E5D-2D74-4ED5-7BF36223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62" y="89869"/>
            <a:ext cx="7547676" cy="714072"/>
          </a:xfrm>
        </p:spPr>
        <p:txBody>
          <a:bodyPr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2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активності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4D64B4-F9FD-7527-35D3-15A1DFDA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773ADA-6A12-245F-4210-4AE288E6B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625D36-03D8-EC78-9115-840DB4A77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88" y="8938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graphicFrame>
        <p:nvGraphicFramePr>
          <p:cNvPr id="7" name="Об'єкт 6">
            <a:extLst>
              <a:ext uri="{FF2B5EF4-FFF2-40B4-BE49-F238E27FC236}">
                <a16:creationId xmlns:a16="http://schemas.microsoft.com/office/drawing/2014/main" id="{FB0109E9-5DF3-7512-7CC8-4F9669854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791655"/>
              </p:ext>
            </p:extLst>
          </p:nvPr>
        </p:nvGraphicFramePr>
        <p:xfrm>
          <a:off x="270588" y="893809"/>
          <a:ext cx="3627438" cy="536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697661" imgH="9936496" progId="Visio.Drawing.15">
                  <p:embed/>
                </p:oleObj>
              </mc:Choice>
              <mc:Fallback>
                <p:oleObj name="Visio" r:id="rId3" imgW="6697661" imgH="993649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88" y="893809"/>
                        <a:ext cx="3627438" cy="5364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6E64F94E-E30A-8FA3-E31D-602A43F23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758" y="5530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graphicFrame>
        <p:nvGraphicFramePr>
          <p:cNvPr id="9" name="Об'єкт 8">
            <a:extLst>
              <a:ext uri="{FF2B5EF4-FFF2-40B4-BE49-F238E27FC236}">
                <a16:creationId xmlns:a16="http://schemas.microsoft.com/office/drawing/2014/main" id="{0C65619E-1B08-1173-94CC-9070382F7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83189"/>
              </p:ext>
            </p:extLst>
          </p:nvPr>
        </p:nvGraphicFramePr>
        <p:xfrm>
          <a:off x="4572000" y="787220"/>
          <a:ext cx="4022725" cy="567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6156676" imgH="8679030" progId="Visio.Drawing.15">
                  <p:embed/>
                </p:oleObj>
              </mc:Choice>
              <mc:Fallback>
                <p:oleObj name="Visio" r:id="rId5" imgW="6156676" imgH="867903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787220"/>
                        <a:ext cx="4022725" cy="567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921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C3179E-1AC6-8751-4AAE-E3146EAF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1BDAC-B6CE-3E09-4CD4-AB6F6C33A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62" y="89869"/>
            <a:ext cx="7547676" cy="714072"/>
          </a:xfrm>
        </p:spPr>
        <p:txBody>
          <a:bodyPr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2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компонентів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9D1DE8-46F7-0853-C319-2674E2E0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4B9A1-C5E5-B47C-0857-1C9C60B56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CDC205A-8DF1-80F6-384F-2AE88FF11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88" y="8938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0DC9C16-AC9D-D5DC-32E9-35C7F7FA5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758" y="5530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351BBB-6B13-C075-B722-83BF29E6D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graphicFrame>
        <p:nvGraphicFramePr>
          <p:cNvPr id="10" name="Об'єкт 9">
            <a:extLst>
              <a:ext uri="{FF2B5EF4-FFF2-40B4-BE49-F238E27FC236}">
                <a16:creationId xmlns:a16="http://schemas.microsoft.com/office/drawing/2014/main" id="{BAF148A4-EC72-A6D3-77D0-C1CB635F2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300742"/>
              </p:ext>
            </p:extLst>
          </p:nvPr>
        </p:nvGraphicFramePr>
        <p:xfrm>
          <a:off x="2118049" y="1962150"/>
          <a:ext cx="53117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067446" imgH="5005985" progId="Visio.Drawing.15">
                  <p:embed/>
                </p:oleObj>
              </mc:Choice>
              <mc:Fallback>
                <p:oleObj name="Visio" r:id="rId3" imgW="9067446" imgH="500598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049" y="1962150"/>
                        <a:ext cx="5311775" cy="293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208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9B5312-E46F-72C8-7447-0A7808E4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16AC2-3F11-DFA8-35FF-EE8002A6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62" y="89869"/>
            <a:ext cx="7547676" cy="714072"/>
          </a:xfrm>
        </p:spPr>
        <p:txBody>
          <a:bodyPr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uk-UA" sz="2200" b="1" dirty="0">
                <a:latin typeface="Times New Roman" pitchFamily="18" charset="0"/>
                <a:ea typeface="Microsoft YaHei" charset="-122"/>
                <a:cs typeface="Times New Roman" pitchFamily="18" charset="0"/>
              </a:rPr>
              <a:t>Діаграма розгортання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086347-1B99-EB14-16F8-DA811A1E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5579" y="231325"/>
            <a:ext cx="573438" cy="555895"/>
          </a:xfrm>
        </p:spPr>
        <p:txBody>
          <a:bodyPr/>
          <a:lstStyle/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A9C3D-06DC-0938-3158-23B0C5E36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F890AB4-045B-B570-5359-C0641FD6E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88" y="8938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A139F68-9A45-5332-BDBC-36387F285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758" y="5530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0229D5-D89F-94AE-50C0-E2C83D55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820324-E753-5CBB-CA19-3E80912C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75" y="1873250"/>
            <a:ext cx="517525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84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7183" y="774915"/>
            <a:ext cx="7886700" cy="5253926"/>
          </a:xfrm>
        </p:spPr>
        <p:txBody>
          <a:bodyPr>
            <a:normAutofit/>
          </a:bodyPr>
          <a:lstStyle/>
          <a:p>
            <a:pPr algn="ctr"/>
            <a:r>
              <a:rPr lang="uk-UA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br>
              <a:rPr lang="uk-UA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4"/>
          <p:cNvSpPr txBox="1">
            <a:spLocks/>
          </p:cNvSpPr>
          <p:nvPr/>
        </p:nvSpPr>
        <p:spPr>
          <a:xfrm>
            <a:off x="8415579" y="231325"/>
            <a:ext cx="573438" cy="555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E8DF1E-33BB-4377-9A26-35481BA06C7C}" type="slidenum">
              <a:rPr lang="uk-UA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7820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7445</TotalTime>
  <Words>234</Words>
  <Application>Microsoft Office PowerPoint</Application>
  <PresentationFormat>Екран (4:3)</PresentationFormat>
  <Paragraphs>47</Paragraphs>
  <Slides>11</Slides>
  <Notes>7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Visio</vt:lpstr>
      <vt:lpstr>Презентація PowerPoint</vt:lpstr>
      <vt:lpstr>Актуальність роботи.  Мета та основні задачі проєктування</vt:lpstr>
      <vt:lpstr>Діаграма прецедентів</vt:lpstr>
      <vt:lpstr>Діаграма класів</vt:lpstr>
      <vt:lpstr>Діаграма комунікації</vt:lpstr>
      <vt:lpstr>Презентація PowerPoint</vt:lpstr>
      <vt:lpstr>Діаграма станів</vt:lpstr>
      <vt:lpstr>Діаграма активності</vt:lpstr>
      <vt:lpstr>Діаграма компонентів</vt:lpstr>
      <vt:lpstr>Діаграма розгортання</vt:lpstr>
      <vt:lpstr>Дякую за увагу </vt:lpstr>
    </vt:vector>
  </TitlesOfParts>
  <Company>PJSC "New Engineering Technologies"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Markasian, Pavel (KIEVH)</dc:creator>
  <cp:lastModifiedBy>User</cp:lastModifiedBy>
  <cp:revision>238</cp:revision>
  <cp:lastPrinted>2021-06-08T10:32:29Z</cp:lastPrinted>
  <dcterms:created xsi:type="dcterms:W3CDTF">2016-11-18T14:12:19Z</dcterms:created>
  <dcterms:modified xsi:type="dcterms:W3CDTF">2025-12-11T06:17:09Z</dcterms:modified>
</cp:coreProperties>
</file>